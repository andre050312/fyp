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776b3588544ac2" /><Relationship Type="http://schemas.openxmlformats.org/officeDocument/2006/relationships/extended-properties" Target="/docProps/app.xml" Id="Rc79633ac8ed7478b" /><Relationship Type="http://schemas.openxmlformats.org/officeDocument/2006/relationships/officeDocument" Target="/ppt/presentation.xml" Id="R01df2e0d159b4f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7131a60c6249ac"/>
  </p:sldMasterIdLst>
  <p:notesMasterIdLst>
    <p:notesMasterId xmlns:r="http://schemas.openxmlformats.org/officeDocument/2006/relationships" r:id="R1d8a787ee7ff4105"/>
  </p:notesMasterIdLst>
  <p:sldIdLst>
    <p:sldId xmlns:r="http://schemas.openxmlformats.org/officeDocument/2006/relationships" id="256" r:id="R74aadb503dc5449c"/>
    <p:sldId xmlns:r="http://schemas.openxmlformats.org/officeDocument/2006/relationships" id="257" r:id="R5eaa20ddebb04c51"/>
    <p:sldId xmlns:r="http://schemas.openxmlformats.org/officeDocument/2006/relationships" id="258" r:id="Rcfed95ede95242e9"/>
    <p:sldId xmlns:r="http://schemas.openxmlformats.org/officeDocument/2006/relationships" id="259" r:id="R9d1aeb8d91584a29"/>
    <p:sldId xmlns:r="http://schemas.openxmlformats.org/officeDocument/2006/relationships" id="260" r:id="R626bbd2d62ca47b0"/>
    <p:sldId xmlns:r="http://schemas.openxmlformats.org/officeDocument/2006/relationships" id="261" r:id="Ra9709ce4d418488b"/>
    <p:sldId xmlns:r="http://schemas.openxmlformats.org/officeDocument/2006/relationships" id="262" r:id="Rd8c2542c504c48e5"/>
    <p:sldId xmlns:r="http://schemas.openxmlformats.org/officeDocument/2006/relationships" id="263" r:id="R0a7f6d71a2bc40ff"/>
    <p:sldId xmlns:r="http://schemas.openxmlformats.org/officeDocument/2006/relationships" id="264" r:id="R93f0e0096c334d4e"/>
    <p:sldId xmlns:r="http://schemas.openxmlformats.org/officeDocument/2006/relationships" id="265" r:id="R98ef6c6378924eae"/>
    <p:sldId xmlns:r="http://schemas.openxmlformats.org/officeDocument/2006/relationships" id="266" r:id="R0d45dae9c4044768"/>
    <p:sldId xmlns:r="http://schemas.openxmlformats.org/officeDocument/2006/relationships" id="267" r:id="R238f9da7e7634782"/>
    <p:sldId xmlns:r="http://schemas.openxmlformats.org/officeDocument/2006/relationships" id="268" r:id="R8e8cb729dbd440d9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b1afd6526b4d4d" /><Relationship Type="http://schemas.openxmlformats.org/officeDocument/2006/relationships/slideMaster" Target="/ppt/slideMasters/slideMaster1.xml" Id="R797131a60c6249ac" /><Relationship Type="http://schemas.openxmlformats.org/officeDocument/2006/relationships/notesMaster" Target="/ppt/notesMasters/notesMaster1.xml" Id="R1d8a787ee7ff4105" /><Relationship Type="http://schemas.openxmlformats.org/officeDocument/2006/relationships/presProps" Target="/ppt/presProps.xml" Id="Rd8276fba814247a4" /><Relationship Type="http://schemas.openxmlformats.org/officeDocument/2006/relationships/tableStyles" Target="/ppt/tableStyles.xml" Id="Ra1d4f70fb13a4800" /><Relationship Type="http://schemas.openxmlformats.org/officeDocument/2006/relationships/slide" Target="/ppt/slides/slide1.xml" Id="R74aadb503dc5449c" /><Relationship Type="http://schemas.openxmlformats.org/officeDocument/2006/relationships/slide" Target="/ppt/slides/slide2.xml" Id="R5eaa20ddebb04c51" /><Relationship Type="http://schemas.openxmlformats.org/officeDocument/2006/relationships/slide" Target="/ppt/slides/slide3.xml" Id="Rcfed95ede95242e9" /><Relationship Type="http://schemas.openxmlformats.org/officeDocument/2006/relationships/slide" Target="/ppt/slides/slide4.xml" Id="R9d1aeb8d91584a29" /><Relationship Type="http://schemas.openxmlformats.org/officeDocument/2006/relationships/slide" Target="/ppt/slides/slide5.xml" Id="R626bbd2d62ca47b0" /><Relationship Type="http://schemas.openxmlformats.org/officeDocument/2006/relationships/slide" Target="/ppt/slides/slide6.xml" Id="Ra9709ce4d418488b" /><Relationship Type="http://schemas.openxmlformats.org/officeDocument/2006/relationships/slide" Target="/ppt/slides/slide7.xml" Id="Rd8c2542c504c48e5" /><Relationship Type="http://schemas.openxmlformats.org/officeDocument/2006/relationships/slide" Target="/ppt/slides/slide8.xml" Id="R0a7f6d71a2bc40ff" /><Relationship Type="http://schemas.openxmlformats.org/officeDocument/2006/relationships/slide" Target="/ppt/slides/slide9.xml" Id="R93f0e0096c334d4e" /><Relationship Type="http://schemas.openxmlformats.org/officeDocument/2006/relationships/slide" Target="/ppt/slides/slide10.xml" Id="R98ef6c6378924eae" /><Relationship Type="http://schemas.openxmlformats.org/officeDocument/2006/relationships/slide" Target="/ppt/slides/slide11.xml" Id="R0d45dae9c4044768" /><Relationship Type="http://schemas.openxmlformats.org/officeDocument/2006/relationships/slide" Target="/ppt/slides/slide12.xml" Id="R238f9da7e7634782" /><Relationship Type="http://schemas.openxmlformats.org/officeDocument/2006/relationships/slide" Target="/ppt/slides/slide13.xml" Id="R8e8cb729dbd440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90ca41ad2e4a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c37865d0d84f92" /><Relationship Type="http://schemas.openxmlformats.org/officeDocument/2006/relationships/notesMaster" Target="/ppt/notesMasters/notesMaster1.xml" Id="R36de809bdd0d42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63f29758a241da" /><Relationship Type="http://schemas.openxmlformats.org/officeDocument/2006/relationships/notesMaster" Target="/ppt/notesMasters/notesMaster1.xml" Id="Rd2f3385439384c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1200f2007c4a5c" /><Relationship Type="http://schemas.openxmlformats.org/officeDocument/2006/relationships/notesMaster" Target="/ppt/notesMasters/notesMaster1.xml" Id="R9ea9e94c0cfa49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24689ac4e7410c" /><Relationship Type="http://schemas.openxmlformats.org/officeDocument/2006/relationships/notesMaster" Target="/ppt/notesMasters/notesMaster1.xml" Id="Re3cbb046e5054b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258057d01146b1" /><Relationship Type="http://schemas.openxmlformats.org/officeDocument/2006/relationships/notesMaster" Target="/ppt/notesMasters/notesMaster1.xml" Id="Rd084559de8954e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2a9a0dab3748db" /><Relationship Type="http://schemas.openxmlformats.org/officeDocument/2006/relationships/notesMaster" Target="/ppt/notesMasters/notesMaster1.xml" Id="Rb1686970004542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24d05e63674a63" /><Relationship Type="http://schemas.openxmlformats.org/officeDocument/2006/relationships/notesMaster" Target="/ppt/notesMasters/notesMaster1.xml" Id="Rf4aea4d2e06940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144d90e035455f" /><Relationship Type="http://schemas.openxmlformats.org/officeDocument/2006/relationships/notesMaster" Target="/ppt/notesMasters/notesMaster1.xml" Id="R57898143db5346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88e496168545b1" /><Relationship Type="http://schemas.openxmlformats.org/officeDocument/2006/relationships/notesMaster" Target="/ppt/notesMasters/notesMaster1.xml" Id="R42fa9e0d656c4f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42e2622dba4d2f" /><Relationship Type="http://schemas.openxmlformats.org/officeDocument/2006/relationships/notesMaster" Target="/ppt/notesMasters/notesMaster1.xml" Id="R46010d4baf4240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76e433f5644c71" /><Relationship Type="http://schemas.openxmlformats.org/officeDocument/2006/relationships/notesMaster" Target="/ppt/notesMasters/notesMaster1.xml" Id="R1630d3b61f7246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9f2d1da9be4bbb" /><Relationship Type="http://schemas.openxmlformats.org/officeDocument/2006/relationships/notesMaster" Target="/ppt/notesMasters/notesMaster1.xml" Id="Rc428fb51d3f14f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636aad1b284098" /><Relationship Type="http://schemas.openxmlformats.org/officeDocument/2006/relationships/notesMaster" Target="/ppt/notesMasters/notesMaster1.xml" Id="Rc673970109a5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本页使用用户提供的调研汇报模板。研究主线：公开数据集上的可复现性能提升；医院数据仅作后续外部验证。主模型为LEAD。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来源：用户提供的EEG文章筛选.xlsx与现有FYP版本1。共同输入条件属于文献观察，不代表因果或决定性证据。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通俗解释：第一，模型可能利用采集条件判断数据集来源。第二，同一被试的片段不能同时进入训练集和测试集。第三，临床评价单位是患者，因此主要报告患者级指标。医院数据仅作后续实验验证。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来源：EEG文章筛选.xlsx、LEAD论文与FYP版本1中的方法综述。LaBraM仅在此作为预训练模型类别示例。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LEAD技术依据来自本地论文2502.01678v4.pdf和C:/Users/ROG/Desktop/LEAD代码。第三项为本项目在LEAD基础上的研究扩展。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图片来源：C:/Users/ROG/Desktop/LEAD/figs/lead_pipeline.png，来自LEAD项目。模型主体固定为LEAD。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数据来源：C:/Users/ROG/Desktop/LEAD/results/LEADv2/finetune/LEADv2/P-Base-F-APAVA-Multi/results.txt；C:/Users/ROG/Desktop/LEAD/results/LEADv2/finetune/LEADv2/P-Base-F-RepOD-MCCV/results.txt。APAVA：片段级AUROC 91.90%，被试级AUROC 90.00%。RepOD：片段级AUROC 64.89%，被试级AUROC 56.67%。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医院数据仅作为模型定型后的外部实验验证。LaBraM不进入主线开发，仅作为末期可选的模型独立性复核。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汇报结束。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e1884914446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b40621881c4498" /><Relationship Type="http://schemas.openxmlformats.org/officeDocument/2006/relationships/slideLayout" Target="/ppt/slideLayouts/slideLayout1.xml" Id="R716dc90bc50344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6dc90bc50344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0a39515b6439b" /><Relationship Type="http://schemas.openxmlformats.org/officeDocument/2006/relationships/notesSlide" Target="/ppt/notesSlides/notesSlide1.xml" Id="Rab7197643b0840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b1a1b74204a48" /><Relationship Type="http://schemas.openxmlformats.org/officeDocument/2006/relationships/notesSlide" Target="/ppt/notesSlides/notesSlide2.xml" Id="R2971f71ddf024c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4aa78d6504876" /><Relationship Type="http://schemas.openxmlformats.org/officeDocument/2006/relationships/notesSlide" Target="/ppt/notesSlides/notesSlide3.xml" Id="Rac94645c3f3d46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a3902c4f04e57" /><Relationship Type="http://schemas.openxmlformats.org/officeDocument/2006/relationships/notesSlide" Target="/ppt/notesSlides/notesSlide4.xml" Id="R9e388faa3fbf46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2e073604748d6" /><Relationship Type="http://schemas.openxmlformats.org/officeDocument/2006/relationships/notesSlide" Target="/ppt/notesSlides/notesSlide5.xml" Id="Ra85b024d61a44d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1ba7c6c8d43b7" /><Relationship Type="http://schemas.openxmlformats.org/officeDocument/2006/relationships/notesSlide" Target="/ppt/notesSlides/notesSlide6.xml" Id="R78a25116972b44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1230797284bd9" /><Relationship Type="http://schemas.openxmlformats.org/officeDocument/2006/relationships/notesSlide" Target="/ppt/notesSlides/notesSlide7.xml" Id="R7732268f6fb240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3fdcb56ea4cac" /><Relationship Type="http://schemas.openxmlformats.org/officeDocument/2006/relationships/notesSlide" Target="/ppt/notesSlides/notesSlide8.xml" Id="Ra64748d87fa94b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97599ef564532" /><Relationship Type="http://schemas.openxmlformats.org/officeDocument/2006/relationships/image" Target="/ppt/media/image.png" Id="R4a89a85828b440f9" /><Relationship Type="http://schemas.openxmlformats.org/officeDocument/2006/relationships/notesSlide" Target="/ppt/notesSlides/notesSlide9.xml" Id="R554e7c7cc1d846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76d21a1ff4155" /><Relationship Type="http://schemas.openxmlformats.org/officeDocument/2006/relationships/chart" Target="/ppt/slides/charts/chart1.xml" Id="R740f247dd6784983" /><Relationship Type="http://schemas.openxmlformats.org/officeDocument/2006/relationships/notesSlide" Target="/ppt/notesSlides/notesSlide10.xml" Id="Rc045c5dfe5174d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60fa54e20414c" /><Relationship Type="http://schemas.openxmlformats.org/officeDocument/2006/relationships/notesSlide" Target="/ppt/notesSlides/notesSlide11.xml" Id="R1b19a10e44454e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80473c0e14092" /><Relationship Type="http://schemas.openxmlformats.org/officeDocument/2006/relationships/notesSlide" Target="/ppt/notesSlides/notesSlide12.xml" Id="R4eb697fb787b4d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a0efafa95414f" /><Relationship Type="http://schemas.openxmlformats.org/officeDocument/2006/relationships/notesSlide" Target="/ppt/notesSlides/notesSlide13.xml" Id="Raf45cce6eb0e429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片段级 AUROC</c:v>
          </c:tx>
          <c:spPr>
            <a:solidFill xmlns:a="http://schemas.openxmlformats.org/drawingml/2006/main">
              <a:srgbClr val="2196D2"/>
            </a:solidFill>
          </c:spPr>
          <c:cat>
            <c:strLit>
              <c:ptCount val="2"/>
              <c:pt idx="0">
                <c:v>APAVA（AD）</c:v>
              </c:pt>
              <c:pt idx="1">
                <c:v>RepOD（SZ）</c:v>
              </c:pt>
            </c:strLit>
          </c:cat>
          <c:val>
            <c:numLit>
              <c:formatCode>0%</c:formatCode>
              <c:ptCount val="2"/>
              <c:pt idx="0">
                <c:v>0.919</c:v>
              </c:pt>
              <c:pt idx="1">
                <c:v>0.6489</c:v>
              </c:pt>
            </c:numLit>
          </c:val>
        </c:ser>
        <c:ser>
          <c:idx val="1"/>
          <c:order val="1"/>
          <c:tx>
            <c:v>被试级 AUROC</c:v>
          </c:tx>
          <c:spPr>
            <a:solidFill xmlns:a="http://schemas.openxmlformats.org/drawingml/2006/main">
              <a:srgbClr val="D49A22"/>
            </a:solidFill>
          </c:spPr>
          <c:cat>
            <c:strLit>
              <c:ptCount val="2"/>
              <c:pt idx="0">
                <c:v>APAVA（AD）</c:v>
              </c:pt>
              <c:pt idx="1">
                <c:v>RepOD（SZ）</c:v>
              </c:pt>
            </c:strLit>
          </c:cat>
          <c:val>
            <c:numLit>
              <c:formatCode>0%</c:formatCode>
              <c:ptCount val="2"/>
              <c:pt idx="0">
                <c:v>0.9</c:v>
              </c:pt>
              <c:pt idx="1">
                <c:v>0.5667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宋体"/>
                  <a:ea typeface="宋体"/>
                  <a:cs typeface="宋体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宋体"/>
                <a:ea typeface="宋体"/>
                <a:cs typeface="宋体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宋体"/>
                <a:ea typeface="宋体"/>
                <a:cs typeface="宋体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7D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宋体"/>
              <a:ea typeface="宋体"/>
              <a:cs typeface="宋体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7D0D4-47DB-488D-BAC8-839E4561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A782B-BF0D-4F2B-981B-FF8B717E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D237D-9CBE-4269-AD99-001FEA18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72758-F8CC-4450-8B56-89547E73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192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20338-643A-4306-AD2B-01D6586C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95375"/>
            <a:ext cx="723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8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基于 LEAD 的多疾病 EEG</a:t>
            </a:r>
          </a:p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8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关键因素筛选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40491-E5A2-42F4-AFE7-3A344F12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5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公开数据集性能提升与电极、频段、特征的稳定贡献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E4E24-1606-4705-8D75-76352EAC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FYP 调研汇报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6B6C2-D3E3-4B01-818C-AD4B5D28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2026-09-13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B1496-1200-480C-9D16-175B6545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CA55E-5BF7-43F5-B553-F60C8EA7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5056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1B18D-EC66-46AC-886F-E8F8D192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2E26F-B5A6-4FFC-96E3-E83BF232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25A69-DF4A-40B0-8C92-39CC5980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3BB67-4776-468B-B140-53FE78C4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CONTENTS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CFBE5-837B-445C-990A-27AA8BCC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811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673BF-F71F-4B35-B184-1027837F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2392A-D659-40F2-9BC4-E9B6E57D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4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研究背景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EA9C1-463A-4208-9829-5717032F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公开数据上的问题与挑战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7417E-5DB3-42FC-8D33-87489F0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91292-4E90-4AF2-8E35-C115F54F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研究现状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A439E-A6ED-4C71-B7F7-51CCBA57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分类范式与证据缺口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7CA36-713E-4098-A8D5-7E8F82E2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FC4D9-1E1C-44C6-A4AE-7B5958BE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代表方法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CD679-F04B-4D5B-8406-ED619BEC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LEAD与本项目框架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19F4D-4533-453A-BE7E-4AC79898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F61EC-59DB-423A-A23E-8432F4EE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后续工作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74E2D-AF78-410B-9004-F8C7A9C8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公开数据提升与外部验证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1F7DF-417F-4840-8753-3E5C9E93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2FD89-3704-44BF-894E-EF9BC3B5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5539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8757D-EF8F-4CD2-B0D1-C60FB2F3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24C6B-E7E1-4411-B62B-BAAF4CA6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38932-79CE-4249-9D86-6AC0061A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D9993-B816-4D90-9702-4CFE4E77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EEG疾病识别中的共同输入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842B7-DD1C-4329-8697-9A464913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822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7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多篇研究反复使用静息态EO/EC、相似导联和固定切窗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A8D74-0683-4F51-9312-2A1E77FF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记录条件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DE84C-AE2C-4A2A-9BCB-44EE2DC8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静息态 EO / 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86EE8-A934-42B9-9955-F4DCE25E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33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导联设置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E7BF5-06AD-4D60-A17F-5C962D79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143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19 / 31 / 32 / 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6B4FE-2986-4402-B06E-376CE650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33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切窗长度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43BE9-BC32-4939-B60C-DAA0C0E2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43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2–12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D4CDF-05F9-4E50-ABAD-B57B2444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733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常用特征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23C70-6D72-4F0C-A72B-CC33157D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43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PSD、连接、复杂度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0C904-F83F-4843-A214-4EF98A1B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F7849-6480-4717-B58E-5F2C96CF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这些选择提供了可比较的输入条件，但不能回答哪些因素真正支撑分类。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24B73-ECA6-4818-922A-984C6ED8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0">
                <a:solidFill>
                  <a:srgbClr val="1F2937"/>
                </a:solidFill>
                <a:latin typeface="宋体"/>
                <a:ea typeface="宋体"/>
                <a:cs typeface="宋体"/>
              </a:rPr>
              <a:t>研究问题：哪些频段、电极和特征在不同被试划分及公开数据集上保持不可替代贡献？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9D9F4-BFD1-415A-B8AA-6A9DF8CE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FE3CE-BE9F-4078-B39D-3154EDC9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4424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C9F26-8FC7-4A6C-8F2E-559F5446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78C2B-5EFD-4EAA-87B1-8EA851D6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505E0-28B3-4D07-BE44-C3EA4A24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2325A-C58C-44CC-BAD6-C272C7A0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公开数据集上的三个实际问题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3BFA7-068E-45EE-888D-0F2E6018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053BB-BCAD-4303-B24A-D046B7EC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7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模型可能认错目标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4FF3D-E9BF-483B-89FA-54C16DFF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各数据集的电极、采样率和睁闭眼条件不同。模型可能在识别数据来自哪里，而不是识别疾病。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E6434-4234-4888-A81B-A8885FBF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219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9C81B-F0BA-47BA-82B9-3703F3A3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192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32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7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同一个人可能被看两次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2A83E-4C74-4A1D-B9EE-CC932B5C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152650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如果同一人的部分片段用于训练，其他片段用于测试，模型可能记住这个人，成绩会虚高。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12CD6-21A3-44D9-A57E-E86D4BFE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19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CF537-5AC4-422A-9E62-7FD43539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192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9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7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片段分对不等于患者分对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BA211-3E4B-42A2-AD88-6215C04F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模型能分对很多短片段，不代表它能正确判断一名从未见过的新患者。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3102D-003B-4767-B57D-C257570F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56CEF-DDF0-4F4C-B4B0-341589E2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8A72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2B8A72"/>
                </a:solidFill>
                <a:latin typeface="宋体"/>
                <a:ea typeface="宋体"/>
                <a:cs typeface="宋体"/>
              </a:rPr>
              <a:t>主实验：按被试划分公开数据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0F779-59F9-45B0-B256-B94D234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576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医院数据等模型完成后再测试，只检查模型能否迁移，不用来选择模型或调整参数。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29455-FFA4-40F2-A71B-E48F3334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59119-E534-4101-B124-A0A8A44B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81763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6A0D2-0686-4259-B30D-E7DD1245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9D8AC-27B7-4925-964E-928B0AFA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5F36E-8FCA-4DBA-940B-49A847CD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513D6-39CE-41EA-A4D8-C4273E56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CONTENTS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E3303-0DED-4529-A5E0-164EE00A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88402-5CF2-4979-8350-37E328FC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4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BDA68-86F2-42B2-B91E-67546A0F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公开数据上的问题与挑战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1DCBB-4D19-4B75-B47D-562EAF04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621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7D282-ED0E-4650-AFBB-889CFB18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53C2C-3D5D-452F-B63F-37405E19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研究现状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7791A-7304-482D-9856-D8CFD2D0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分类范式与证据缺口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D2A15-AC88-4282-8534-5278AF98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3858D-1C1B-4841-8E43-A2F4E3D4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代表方法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C51A6-CEF8-44F3-8752-30661C4E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LEAD与本项目框架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57064-5E36-4A5A-A401-7D85ADF5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2C62F-9474-438C-8DE9-329F7B03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后续工作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C1E1E-2B65-45A8-B6D5-DAC5EEA9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公开数据提升与外部验证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B2A20-0541-417C-8EED-FE795750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ACD7F-7754-42EE-9449-B079D37D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19068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12E11-0773-4650-AE42-24DDAB0D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27BAC-43C8-4EF7-93B6-0A73FCA9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CD111-4D86-47D0-8756-FCE57BB7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DF29A-C23E-46CA-9128-A8762C8A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现有EEG疾病识别方法与证据缺口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28625" y="1095375"/>
          <a:ext xmlns:a="http://schemas.openxmlformats.org/drawingml/2006/main" cx="8286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2476500"/>
                <a:gridCol w="2333625"/>
                <a:gridCol w="20955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方法范式</a:t>
                      </a:r>
                    </a:p>
                  </a:txBody>
                  <a:tcPr marL="91440" marR="91440" marT="45720" marB="45720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主要表示</a:t>
                      </a:r>
                    </a:p>
                  </a:txBody>
                  <a:tcPr marL="91440" marR="91440" marT="45720" marB="45720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优势</a:t>
                      </a:r>
                    </a:p>
                  </a:txBody>
                  <a:tcPr marL="91440" marR="91440" marT="45720" marB="45720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与本项目的缺口</a:t>
                      </a:r>
                    </a:p>
                  </a:txBody>
                  <a:tcPr marL="91440" marR="91440" marT="45720" marB="45720" anchor="ctr">
                    <a:solidFill>
                      <a:srgbClr val="24374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手工特征</a:t>
                      </a:r>
                    </a:p>
                  </a:txBody>
                  <a:tcPr marL="76200" marR="76200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PSD、相对功率、连接、熵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含义明确，适合小样本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依赖特征选择，跨数据集稳定性有限</a:t>
                      </a:r>
                    </a:p>
                  </a:txBody>
                  <a:tcPr marL="76200" marR="76200" marT="47625" marB="4762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监督深度模型</a:t>
                      </a:r>
                    </a:p>
                  </a:txBody>
                  <a:tcPr marL="76200" marR="76200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CNN、EEGNet、Conformer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自动学习时空模式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常在单数据集内评估，解释结果不一致</a:t>
                      </a:r>
                    </a:p>
                  </a:txBody>
                  <a:tcPr marL="76200" marR="76200" marT="47625" marB="4762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EEG预训练模型</a:t>
                      </a:r>
                    </a:p>
                  </a:txBody>
                  <a:tcPr marL="76200" marR="76200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LEAD、LaBraM等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利用大规模无标签或多数据集表示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仍需验证疾病级迁移和关键因素的可重复性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F4A0E-D7F6-48D1-82D1-9D36DDC9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现有方法关注“能否分类”；本项目进一步检验“哪些信息稳定贡献，并带来公开数据集上的提升”。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9773D-EDE5-44DD-9261-1FE794BF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02663-435D-42C4-A6F2-A910806B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9058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0D053-9ACA-4791-AD0A-C1503548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E3F41-1503-4186-A69B-C2DF9E37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75FC0-8F44-40F1-8C96-CA0FC9AA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5222E-2AFD-453A-AE57-7D8C510C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CONTENTS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AD6BB-AEBE-4AD5-8F8B-474C4861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A8B8F-84B6-4002-97C6-520DF3C9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4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5400E-5736-4922-A986-510F4AC3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公开数据上的问题与挑战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F8796-6706-4FA8-A4D1-DD458F0B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5EA65-63AB-4CC4-8CD6-E35BBA7E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研究现状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E9C74-6424-4D67-BF20-D4B344F8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分类范式与证据缺口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0BDB8-A149-4602-92AA-B15867DE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432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BADAE-FF00-44DA-8005-F4B15EB6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A8CA1-ECDE-4D86-8910-D3AF56B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代表方法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A7D44-1EDA-4342-9AB3-AFB224E3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C53D35"/>
                </a:solidFill>
                <a:latin typeface="宋体"/>
                <a:ea typeface="宋体"/>
                <a:cs typeface="宋体"/>
              </a:rPr>
              <a:t>LEAD与本项目框架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707BF-16CD-47DB-AA5A-36546432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3455F-DC7E-49A8-8A21-BB8CBD24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后续工作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14707-1470-4936-9AD4-363A91FD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公开数据提升与外部验证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97245-2CCA-4714-8AFC-48E34BA8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BD6F8-5470-4F98-9C11-C136F5D1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1190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32166-C38D-431F-9CD6-17E8D823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D625B-CABA-4832-98EF-97C4FF69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23F5C-8A48-4332-8D8D-91F77C28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CE5D4-4030-4EA3-BFE5-B117B442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框架动机：从异构输入到稳定贡献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292D3-D1B0-4E88-B616-25DE0147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81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A2E79-F5CF-4C57-AF24-EB1CA2B9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981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框架响应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BDF80-DE53-4749-B8A4-68264B35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问题一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97C01-C33F-4DA4-B235-47EEAD9C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287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公开EEG数据的通道与采样率不同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85D2A-1B35-48F5-91E9-9B9D02D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287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309BF-F609-4939-BD48-C2AC910D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LEAD的通道位置与采样率嵌入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44AEA-C231-41F0-B526-8901C3AD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90F6A-57A7-45CB-AC59-69882CA5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问题二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69869-724B-44AD-AED0-3A627913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疾病标签属于被试，而非单个短片段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9F6D9-8384-4BDA-9B85-C797DE6B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CD3BA-125D-4F49-9CC7-F980973A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050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样本级与被试级联合学习和评价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58FA0-32E6-42F8-AF2E-123144DC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908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4C09C-4284-44F5-BC10-D7DD95ED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8135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问题三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C66E1-E5F8-4814-81C3-C63C95A5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高性能仍不能说明关键频段与电极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BDE8D-AA30-4676-9875-0F2E5105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813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C9884-38BC-48AF-AC18-D833EB5B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813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40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加入配对消融、频段门控和稳定性统计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60B4A-8AA2-4A3A-ABB0-0FACEC3A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1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设计原则：先建立可复现的LEAD基线，再用受控变量实验定位贡献，最后验证改进是否跨公开数据集成立。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2305B-CDB4-4DC2-BE6C-065D40F2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D6F3B-CC9D-423F-80F6-9D4ECC36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229436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0996F-FAF8-40EC-A445-9EA3AF50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1CBD7-A57D-4D18-9C59-D95327A1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1F945-0EF4-4A25-B2BF-C3426724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B6B89-A18D-4A7C-88C3-8AA32526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LEAD主干与本项目扩展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9a85828b440f9"/>
          <a:stretch xmlns:a="http://schemas.openxmlformats.org/drawingml/2006/main"/>
        </p:blipFill>
        <p:spPr>
          <a:xfrm xmlns:a="http://schemas.openxmlformats.org/drawingml/2006/main">
            <a:off x="333375" y="1392432"/>
            <a:ext cx="5381625" cy="216813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4623B-905D-4F37-9C3B-9EED0F63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23950"/>
            <a:ext cx="381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C7013-6220-4FEA-B20B-51B5C547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23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5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保留的LEAD能力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28C1D-F68F-4BDD-82AF-6B9CB3BB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2476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时间与空间联合编码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异构通道和采样率适配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被试级损失与预测聚合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6F593-A420-43EC-BAB7-675F708F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575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新增实验层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E0D3D-A75B-465C-A94D-53964119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五频段输入与band embedding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频段、电极和特征配对消融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公开数据集上的跨折稳定性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7DF35-E363-41FE-8E12-69DDA5DC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C54E0-4AF9-4034-9EE1-D9FD4E62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76375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F78B1-2976-4659-AD41-FB035391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06824-5B79-45CE-AAA0-75445573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83F99-BA30-43F4-96E2-8A746FA4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E11C8-6B97-451A-B91A-80EBD111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公开数据集是模型提升的主评测场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28625" y="1095375"/>
          <a:ext xmlns:a="http://schemas.openxmlformats.org/drawingml/2006/main" cx="452437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0f247dd678498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23C72-B3A2-48A9-B121-781BACDB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0668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5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当前进展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36210-BD19-484D-9329-F425E290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76375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APAVA完成5次复现，被试级AUROC 90.00%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RepOD完成5次MCCV，被试级AUROC 56.67%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RepOD结果提示跨疾病迁移仍需优化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6E37B-B5E4-4E9D-8EDE-4E2CA5EA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57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575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后续比较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70942-318E-4D44-BE1A-6A53B18D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6707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原始LEAD、随机初始化与传统基线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单频段、删频段及MultiBand-LEAD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同一被试折上比较AUROC与macro-F1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E2F60-0F53-4DB1-8BC6-75B8C3B6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两组数据疾病和规模不同，图中结果只表示阶段进展，不作数据集间优劣比较。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2876E-13FC-4B03-A86F-7E96F123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48130-7ECD-4286-8EB1-ED5A02B9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4883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34D30-B1FC-482C-8EF6-FD70A1A2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BDB75-F456-47D3-9FAB-0AD19410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30C2F-3FEE-4E7A-AFA2-496E4E4F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34480-A654-4054-A52F-7EFD0D42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CONTENTS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87864-83DC-4877-9FE5-86787321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88C86-EDD8-40D5-84B9-649550C7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4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4405B-FBE3-4D9E-B8E7-D9C2F1B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公开数据上的问题与挑战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D17F9-7DBC-4189-B3FA-C2CAF0BB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ABEB6-2C2D-4C03-B1A4-C8925B25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研究现状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5DFEB-99EE-4976-AAAA-EE313223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分类范式与证据缺口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CDA80-E0A4-4B9B-B725-7C16672E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9B395-C726-4094-9466-BBAF6C43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代表方法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DCAAD-2108-40F2-A4A8-B8466256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LEAD与本项目框架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CFD7D-C204-41EA-8066-690B4057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35D23-87F9-4D0A-97C5-6B9E4285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A7392-1BF3-4020-8FEA-C2F857FC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后续工作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DA4A0-684C-4981-BAFF-AC3812A5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公开数据提升与外部验证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749E6-CEAF-455C-8210-AEC32F9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4D8FC-F981-4846-8040-43260E20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095293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8AB02F-081A-4E9D-9B99-53E4850E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62163-A523-4041-8F0C-B09092D8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B4300-F2EB-4853-A00B-9507C49A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63BB0-DA2A-4EE5-BC2F-A241119D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后续实验路线与验证层级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01A1E-D003-482E-9211-2AFEAA7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238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EDA9D-223C-472C-B32E-D23CACC3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573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47F73-267A-45A0-823B-F2500B2E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8383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公开数据基线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67E78-E39A-4C4C-A1B2-9F7ABB06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3431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固定被试划分</a:t>
            </a:r>
          </a:p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复现LEAD与传统基线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FC722-E327-44B7-8A78-9EB7F9E5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954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8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D7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D7D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C53EC-8F48-48EF-B40F-C21563CC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238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D92C6-338E-460F-8C16-C635A720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573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BDA44-1B9C-441A-A2E2-EBC2E662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383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因素筛选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75672-2FB9-40E4-A05D-3D654E98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431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单频段与删频段</a:t>
            </a:r>
          </a:p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电极和特征消融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AB793-C214-40D9-BB1C-36531B76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954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8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D7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D7D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17647-044B-4094-BCB3-F3FCB487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38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52F51-E41D-4E0D-A5E0-A3D30190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573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CC71E-9B5F-45E7-AB3C-D9F8E079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8383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模型提升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FE261-BB37-4A52-A767-D4E72721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3431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频段门控融合</a:t>
            </a:r>
          </a:p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MultiBand-LEAD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41062-2325-479A-97E6-B392FC29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8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D7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D7D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A3612-2B55-4ED4-8DBE-EE4E15E1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38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495DA-0420-4894-9351-DA9E1836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573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978C8-6980-44CB-BDAB-7C5BF707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383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公开集验证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AB446-11E9-4363-B3A0-3085179B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跨数据集与多种子</a:t>
            </a:r>
          </a:p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确认提升和排名稳定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E20B5E-8DE7-4B44-A1D5-C436F357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954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8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D7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D7D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19BD8F-4614-40D3-A0DB-6F009E31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238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3D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53D3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2D517-27D9-475C-873B-1F321143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573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D3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D6916-B2EB-4B8D-9902-A9DED2B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383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医院外部验证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CD35D-4A87-44A6-8306-8E47E950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431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模型定型后一次验证</a:t>
            </a:r>
          </a:p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不参与调参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17B1A8-233F-42AB-B57A-9A815812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F77238-1F15-4F4F-8061-888E0588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关键验收：相同公开数据、相同被试折和相同评价指标下，MultiBand-LEAD稳定优于原始LEAD。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354E1D-179A-46F4-B2B0-FF617F89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576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补充说明：资源允许时，仅在最终阶段用LaBraM复核关键频段与电极排名是否依赖LEAD架构。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DA0C95-BCA3-4F55-A18D-BC78FC91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61F6FC-9B16-47A6-B064-AFD30896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299240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538A0-A3FD-40BE-BBD4-943A5399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6E3AC-19BC-4ED8-80FB-6AC61FDE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1FF2E-19A3-435C-B31F-27DE1E3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20A5E-5877-4A8E-87FB-822FC9CE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73D31-9A32-4A02-9F00-9A47B9BC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38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500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研究主线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6323D-128D-4AE5-8DAA-01AD405A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2192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在公开数据集上提升LEAD，并定位稳定贡献分类的频段、电极和特征。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8154E-530C-42CC-84C0-1BA7BD0A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500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验证边界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EA7C0-EC7E-471E-8F72-65DCC152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764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医院数据用于最终外部验证，不驱动框架设计和模型选择。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BC771-BB12-4909-879E-B72325F7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500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核心模型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00BBF-2D62-4CEE-B0A7-B804F66A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337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LEAD承担全部主实验；LaBraM仅作为末期补充对照。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0EEBC-F9E3-4BDC-9C0A-D7A71651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9DF45-AF4D-400F-B170-B2D1550E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829A1-A755-415E-910E-12058699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66652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2026-09-15T02:10:19.4930000Z</dcterms:created>
  <dcterms:modified xsi:type="dcterms:W3CDTF">2026-09-15T02:10:19.4930000Z</dcterms:modified>
</coreProperties>
</file>