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743fdc90646ab" /><Relationship Type="http://schemas.openxmlformats.org/officeDocument/2006/relationships/extended-properties" Target="/docProps/app.xml" Id="R5eeb73fabc7e487a" /><Relationship Type="http://schemas.openxmlformats.org/officeDocument/2006/relationships/officeDocument" Target="/ppt/presentation.xml" Id="R7bcd65194dbe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54fcec41894213"/>
  </p:sldMasterIdLst>
  <p:notesMasterIdLst>
    <p:notesMasterId xmlns:r="http://schemas.openxmlformats.org/officeDocument/2006/relationships" r:id="Rd0358dd447384eea"/>
  </p:notesMasterIdLst>
  <p:sldIdLst>
    <p:sldId xmlns:r="http://schemas.openxmlformats.org/officeDocument/2006/relationships" id="256" r:id="R639000dd95e84122"/>
    <p:sldId xmlns:r="http://schemas.openxmlformats.org/officeDocument/2006/relationships" id="257" r:id="Rdd2bee8f19844939"/>
    <p:sldId xmlns:r="http://schemas.openxmlformats.org/officeDocument/2006/relationships" id="258" r:id="R469b50fd87194255"/>
    <p:sldId xmlns:r="http://schemas.openxmlformats.org/officeDocument/2006/relationships" id="259" r:id="R280cfa893dc3463f"/>
    <p:sldId xmlns:r="http://schemas.openxmlformats.org/officeDocument/2006/relationships" id="260" r:id="Rb2bdf71bb53a47d8"/>
    <p:sldId xmlns:r="http://schemas.openxmlformats.org/officeDocument/2006/relationships" id="261" r:id="R9aa227c6ee744302"/>
    <p:sldId xmlns:r="http://schemas.openxmlformats.org/officeDocument/2006/relationships" id="262" r:id="R6551ff47bc14482e"/>
    <p:sldId xmlns:r="http://schemas.openxmlformats.org/officeDocument/2006/relationships" id="263" r:id="R37efe16aeae84346"/>
    <p:sldId xmlns:r="http://schemas.openxmlformats.org/officeDocument/2006/relationships" id="264" r:id="R6eaf76e0a67942e7"/>
    <p:sldId xmlns:r="http://schemas.openxmlformats.org/officeDocument/2006/relationships" id="265" r:id="R762edd6bc5e2482e"/>
    <p:sldId xmlns:r="http://schemas.openxmlformats.org/officeDocument/2006/relationships" id="266" r:id="Rd8723a1e36004c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7b711a5bfe4f85" /><Relationship Type="http://schemas.openxmlformats.org/officeDocument/2006/relationships/slideMaster" Target="/ppt/slideMasters/slideMaster1.xml" Id="R7454fcec41894213" /><Relationship Type="http://schemas.openxmlformats.org/officeDocument/2006/relationships/notesMaster" Target="/ppt/notesMasters/notesMaster1.xml" Id="Rd0358dd447384eea" /><Relationship Type="http://schemas.openxmlformats.org/officeDocument/2006/relationships/presProps" Target="/ppt/presProps.xml" Id="R9a813aa437504720" /><Relationship Type="http://schemas.openxmlformats.org/officeDocument/2006/relationships/tableStyles" Target="/ppt/tableStyles.xml" Id="R2d0d89927b364621" /><Relationship Type="http://schemas.openxmlformats.org/officeDocument/2006/relationships/slide" Target="/ppt/slides/slide1.xml" Id="R639000dd95e84122" /><Relationship Type="http://schemas.openxmlformats.org/officeDocument/2006/relationships/slide" Target="/ppt/slides/slide2.xml" Id="Rdd2bee8f19844939" /><Relationship Type="http://schemas.openxmlformats.org/officeDocument/2006/relationships/slide" Target="/ppt/slides/slide3.xml" Id="R469b50fd87194255" /><Relationship Type="http://schemas.openxmlformats.org/officeDocument/2006/relationships/slide" Target="/ppt/slides/slide4.xml" Id="R280cfa893dc3463f" /><Relationship Type="http://schemas.openxmlformats.org/officeDocument/2006/relationships/slide" Target="/ppt/slides/slide5.xml" Id="Rb2bdf71bb53a47d8" /><Relationship Type="http://schemas.openxmlformats.org/officeDocument/2006/relationships/slide" Target="/ppt/slides/slide6.xml" Id="R9aa227c6ee744302" /><Relationship Type="http://schemas.openxmlformats.org/officeDocument/2006/relationships/slide" Target="/ppt/slides/slide7.xml" Id="R6551ff47bc14482e" /><Relationship Type="http://schemas.openxmlformats.org/officeDocument/2006/relationships/slide" Target="/ppt/slides/slide8.xml" Id="R37efe16aeae84346" /><Relationship Type="http://schemas.openxmlformats.org/officeDocument/2006/relationships/slide" Target="/ppt/slides/slide9.xml" Id="R6eaf76e0a67942e7" /><Relationship Type="http://schemas.openxmlformats.org/officeDocument/2006/relationships/slide" Target="/ppt/slides/slide10.xml" Id="R762edd6bc5e2482e" /><Relationship Type="http://schemas.openxmlformats.org/officeDocument/2006/relationships/slide" Target="/ppt/slides/slide11.xml" Id="Rd8723a1e36004c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97041171d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fba712a6642e7" /><Relationship Type="http://schemas.openxmlformats.org/officeDocument/2006/relationships/notesMaster" Target="/ppt/notesMasters/notesMaster1.xml" Id="R9395c006516841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fac8d51c6240f0" /><Relationship Type="http://schemas.openxmlformats.org/officeDocument/2006/relationships/notesMaster" Target="/ppt/notesMasters/notesMaster1.xml" Id="R206bfb2f03304a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50e441da2f4d7f" /><Relationship Type="http://schemas.openxmlformats.org/officeDocument/2006/relationships/notesMaster" Target="/ppt/notesMasters/notesMaster1.xml" Id="R4e530fee53ac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031e22350c48d2" /><Relationship Type="http://schemas.openxmlformats.org/officeDocument/2006/relationships/notesMaster" Target="/ppt/notesMasters/notesMaster1.xml" Id="Rafdc819a1910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ad9078ab94494b" /><Relationship Type="http://schemas.openxmlformats.org/officeDocument/2006/relationships/notesMaster" Target="/ppt/notesMasters/notesMaster1.xml" Id="Reff33f3d15c2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ec0f1f96f4c0d" /><Relationship Type="http://schemas.openxmlformats.org/officeDocument/2006/relationships/notesMaster" Target="/ppt/notesMasters/notesMaster1.xml" Id="Re1c4804dc33d42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2293dc0bf64412" /><Relationship Type="http://schemas.openxmlformats.org/officeDocument/2006/relationships/notesMaster" Target="/ppt/notesMasters/notesMaster1.xml" Id="R419091502b25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0196b2225d4c1d" /><Relationship Type="http://schemas.openxmlformats.org/officeDocument/2006/relationships/notesMaster" Target="/ppt/notesMasters/notesMaster1.xml" Id="R8853d8444ee546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163ca8fe5e443e" /><Relationship Type="http://schemas.openxmlformats.org/officeDocument/2006/relationships/notesMaster" Target="/ppt/notesMasters/notesMaster1.xml" Id="Rcafd012a62ec46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02fa22b95d4bc9" /><Relationship Type="http://schemas.openxmlformats.org/officeDocument/2006/relationships/notesMaster" Target="/ppt/notesMasters/notesMaster1.xml" Id="R3e8791a755e44f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bc7719ce904245" /><Relationship Type="http://schemas.openxmlformats.org/officeDocument/2006/relationships/notesMaster" Target="/ppt/notesMasters/notesMaster1.xml" Id="R920f45ac74a9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报告聚焦 FYP 的研究问题和现阶段证据。方法主线为 LEADv2；LaBraM 仅作为模型对照。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按问题、方法、实验、局限和下一步组织。听众只需要知道 EEG 由多个电极采集，信号可分为不同频段。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公开数据集上的提升和可靠解释是主线。医院数据只作为未来外部验证。片段随机划分会造成同一被试的泄漏，因此按被试划分。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论文：Wang et al., LEAD: Large Foundation Model for EEG-Based Alzheimer’s Disease Detection, arXiv:2502.01678, https://arxiv.org/abs/2502.01678 。此处不声称原论文已经完成本 FYP 的频段解释研究。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数据集为 MDD-Mumtaz，HC 28 人、MDD 30 人，2 秒窗、1 秒步长。频段去除在连续信号上滤波，然后按基线保留窗口对齐。每个 seed 的训练/验证/测试被试不重叠；不同 seed 的划分可重叠，故不是 15 个独立队列。来源：working/frequency_data/omit_alpha/MDD-Mumtaz/meta.json 及各 run 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seed 均值：baseline 89.574%; omit delta 88.887%; theta 90.986%; alpha 87.828%; beta 90.250%; gamma 88.976%。这里的差值按同 seed 配对。数据：output_Test/from_scratch*/seed*/metrics.json。仅为验证集结果。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 43 与 45 的去 alpha 差值分别约 -9.21 与 -9.86 个百分点。AUROC 平均下降约 0.0274。窗级指标有同被试多窗相关性，被试级准确率基线 95.56%，去 alpha 94.44%；每次验证仅 6 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频段滤波并非精确独立切除特征，边界会残留。多个频段、多个 seed 的探索存在选择偏差。测试集必须留到分析方案锁定以后。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增加只保留目标频段与去除目标频段的互补设计，并在训练阶段/测试阶段区分掩码的作用。应预先指定主指标和比较计划，防止看测试集选特征。若扩展到多疾病，应先分别定义任务和统一预处理，再考虑多任务共享表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https://arxiv.org/abs/2502.01678；LaBraM: Jiang et al., Large Brain Model for Learning Generic Representations with Tremendous EEG Data in BCI, ICLR 2024, https://arxiv.org/abs/2405.18765 。现有比较涉及 AD、FTD、MDD、SZ，但设置/样本量差异较大，故只讲定位，不做全局胜负结论。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希望讨论算法/模型构建：定向频段掩码是否作为数据增强；若多疾病，是否以疾病分类为标签，还是多任务目标。当前优先把单任务消融做扎实。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9c33f76374b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5438113f94b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1eff59b324b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e2497db6843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2a2ef0d634e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d873d190b44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6519D6-72CE-46D5-80F4-EE12AD050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91F014-0750-422F-9121-9C8BBB81FB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5FF06E-DB23-4DB3-8B75-298FE7789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F8A655-7279-4E52-B98B-FE9E6BAC70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EFE5C9-CC0F-4FD9-8E12-E33FE2733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AB6605-B477-4511-88DB-42A1B18F9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8DC8A1-5CB9-4E7E-9C25-5707967D9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E7E032-3CF0-4FDD-B8B1-83AB67A1BB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204DFA-8A72-4FCB-888C-2AEC40B63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E39295-D062-4E08-A752-E73135F6B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9603d4825409f" /><Relationship Type="http://schemas.openxmlformats.org/officeDocument/2006/relationships/slideLayout" Target="/ppt/slideLayouts/slideLayout1.xml" Id="Rdf16f09d1d72493b" /><Relationship Type="http://schemas.openxmlformats.org/officeDocument/2006/relationships/slideLayout" Target="/ppt/slideLayouts/slideLayout2.xml" Id="Ra42cb90bb16d4319" /><Relationship Type="http://schemas.openxmlformats.org/officeDocument/2006/relationships/slideLayout" Target="/ppt/slideLayouts/slideLayout3.xml" Id="Ree9dad2772ad48a3" /><Relationship Type="http://schemas.openxmlformats.org/officeDocument/2006/relationships/slideLayout" Target="/ppt/slideLayouts/slideLayout4.xml" Id="R0ed991b044224fa9" /><Relationship Type="http://schemas.openxmlformats.org/officeDocument/2006/relationships/slideLayout" Target="/ppt/slideLayouts/slideLayout5.xml" Id="R61231b3103534ad4" /><Relationship Type="http://schemas.openxmlformats.org/officeDocument/2006/relationships/slideLayout" Target="/ppt/slideLayouts/slideLayout6.xml" Id="Rdac52b1eaa26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6f09d1d72493b"/>
    <p:sldLayoutId xmlns:r="http://schemas.openxmlformats.org/officeDocument/2006/relationships" id="2147483650" r:id="Ra42cb90bb16d4319"/>
    <p:sldLayoutId xmlns:r="http://schemas.openxmlformats.org/officeDocument/2006/relationships" id="2147483651" r:id="Ree9dad2772ad48a3"/>
    <p:sldLayoutId xmlns:r="http://schemas.openxmlformats.org/officeDocument/2006/relationships" id="2147483652" r:id="R0ed991b044224fa9"/>
    <p:sldLayoutId xmlns:r="http://schemas.openxmlformats.org/officeDocument/2006/relationships" id="2147483653" r:id="R61231b3103534ad4"/>
    <p:sldLayoutId xmlns:r="http://schemas.openxmlformats.org/officeDocument/2006/relationships" id="2147483654" r:id="Rdac52b1eaa26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e854089ba4584" /><Relationship Type="http://schemas.openxmlformats.org/officeDocument/2006/relationships/notesSlide" Target="/ppt/notesSlides/notesSlide1.xml" Id="R143203066be04e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e2c0787a484dfe" /><Relationship Type="http://schemas.openxmlformats.org/officeDocument/2006/relationships/notesSlide" Target="/ppt/notesSlides/notesSlide2.xml" Id="R8dc0695b8294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410125fb14e88" /><Relationship Type="http://schemas.openxmlformats.org/officeDocument/2006/relationships/notesSlide" Target="/ppt/notesSlides/notesSlide3.xml" Id="Rf9152a526802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fe97984e94ef1" /><Relationship Type="http://schemas.openxmlformats.org/officeDocument/2006/relationships/notesSlide" Target="/ppt/notesSlides/notesSlide4.xml" Id="Rcdff8cda16fe45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c977b29604f2a" /><Relationship Type="http://schemas.openxmlformats.org/officeDocument/2006/relationships/notesSlide" Target="/ppt/notesSlides/notesSlide5.xml" Id="Rf3f834da6d1845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56e37600e4627" /><Relationship Type="http://schemas.openxmlformats.org/officeDocument/2006/relationships/chart" Target="/ppt/slides/charts/chart1.xml" Id="Rd36e6d963b2d4af5" /><Relationship Type="http://schemas.openxmlformats.org/officeDocument/2006/relationships/notesSlide" Target="/ppt/notesSlides/notesSlide6.xml" Id="Rfe77ae5438e148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9cff7ecca4c6c" /><Relationship Type="http://schemas.openxmlformats.org/officeDocument/2006/relationships/notesSlide" Target="/ppt/notesSlides/notesSlide7.xml" Id="Refcbf4a059dc4a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702539a2b40d9" /><Relationship Type="http://schemas.openxmlformats.org/officeDocument/2006/relationships/notesSlide" Target="/ppt/notesSlides/notesSlide8.xml" Id="Rab34701746994c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535885d224ccc" /><Relationship Type="http://schemas.openxmlformats.org/officeDocument/2006/relationships/notesSlide" Target="/ppt/notesSlides/notesSlide9.xml" Id="R6d68f98713b645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21d808d9a4777" /><Relationship Type="http://schemas.openxmlformats.org/officeDocument/2006/relationships/notesSlide" Target="/ppt/notesSlides/notesSlide10.xml" Id="R2d8f2058cc8d4e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7c1ed5411459e" /><Relationship Type="http://schemas.openxmlformats.org/officeDocument/2006/relationships/notesSlide" Target="/ppt/notesSlides/notesSlide11.xml" Id="R4d609d06edfe4f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准确率变化</c:v>
          </c:tx>
          <c:spPr>
            <a:solidFill xmlns:a="http://schemas.openxmlformats.org/drawingml/2006/main">
              <a:srgbClr val="167D8D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delta</c:v>
                </c:pt>
                <c:pt idx="1">
                  <c:v>theta</c:v>
                </c:pt>
                <c:pt idx="2">
                  <c:v>alpha</c:v>
                </c:pt>
                <c:pt idx="3">
                  <c:v>beta</c:v>
                </c:pt>
                <c:pt idx="4">
                  <c:v>gamma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-0.686</c:v>
                </c:pt>
                <c:pt idx="1">
                  <c:v>1.412</c:v>
                </c:pt>
                <c:pt idx="2">
                  <c:v>-1.746</c:v>
                </c:pt>
                <c:pt idx="3">
                  <c:v>0.676</c:v>
                </c:pt>
                <c:pt idx="4">
                  <c:v>-0.598</c:v>
                </c:pt>
              </c:numCache>
            </c:numRef>
          </c:val>
        </c:ser>
        <c:dLbls>
          <c:numFmt formatCode="0.00;-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10668-8A8E-4323-B56D-D8805A3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3900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第三次汇报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2D11D-8CF0-46AC-8713-BA34C09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2550">
                <a:solidFill>
                  <a:srgbClr val="167D8D"/>
                </a:solidFill>
              </a:defRPr>
            </a:pPr>
            <a:r>
              <a:rPr sz="25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LEADv2 上的 EEG 电极与频段筛选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E1D3-7286-45CC-8D23-F15C0D90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23313D"/>
                </a:solidFill>
              </a:defRPr>
            </a:pPr>
            <a:r>
              <a:rPr sz="202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从公开数据集复现，到可重复的频段消融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6BBDB-40BC-409B-95F4-1D18CF0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62727F"/>
                </a:solidFill>
              </a:defRPr>
            </a:pPr>
            <a:r>
              <a:rPr sz="150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Hua Chunyang  ·  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49240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18A76-1421-4F39-AEAA-47D5718B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0286C-C2C9-47DD-BD08-6FA6553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本次汇报的三个问题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8073C-9189-4B5A-BD6B-1CF332FE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EA501-A8BB-4DDF-9C01-B4D41E11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07B8D-3D3B-403E-866D-1EE7530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01  为什么需要筛选电极与频段？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0C060-01DC-4DC4-B350-24D8A190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02  LEADv2 的公开数据集结果支持什么？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FC8BA-AD4E-4007-85FC-40B4156F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03  怎样把初步消融变成可信的研究结论？</a:t>
            </a:r>
          </a:p>
        </p:txBody>
      </p:sp>
    </p:spTree>
    <p:extLst>
      <p:ext uri="{BB962C8B-B14F-4D97-AF65-F5344CB8AC3E}">
        <p14:creationId xmlns:p14="http://schemas.microsoft.com/office/powerpoint/2010/main" val="1015113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DBA67-7082-4C4E-955A-1630A85F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13B35-5E75-4286-901D-A545D14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研究问题：模型究竟依赖什么信号？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C8979-C205-4A24-BCF0-D48FE925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487C8-9FC4-43AF-AAB7-3A7C8073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36C61-A0C8-4193-BC1E-20027141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目标：在多疾病 EEG 识别中寻找稳定贡献的电极与频段。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FBD65-E4D2-4BC1-9AE8-589D11B9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困难：高准确率可能来自被试、记录方式或数据集差异。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C5CB8-AD95-4409-A0DA-99A4A54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关键：在相同被试划分下，移除某部分信号并重新训练。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8CA44-904E-4B9E-BE87-47E7125F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167D8D"/>
                </a:solidFill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分类相关 ≠ 疾病因果机制</a:t>
            </a:r>
          </a:p>
        </p:txBody>
      </p:sp>
    </p:spTree>
    <p:extLst>
      <p:ext uri="{BB962C8B-B14F-4D97-AF65-F5344CB8AC3E}">
        <p14:creationId xmlns:p14="http://schemas.microsoft.com/office/powerpoint/2010/main" val="1590888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685B6-9C4B-42A7-8DEB-B1AE1DDF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论文与方法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60DCF-1EE7-44A0-B45E-4365498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LEADv2 提供统一的 EEG 建模底座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A2317-87BC-4DCC-9931-6B2C79B2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69AE3-362E-49FF-9528-DE5FCDA6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A8995-FE94-4CE7-AD0C-841DDD6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LEAD 面向异构 EEG：不同电极布局与采样率仍可统一建模。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B5ADA-D654-4FC4-82D5-5E5F8C6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本项目沿用 LEADv2 的网络结构，先建立完整频谱基线。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2C705-C190-4E28-8AC6-7271F06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再对输入进行定向扰动，检验分类对信号成分的依赖。</a:t>
            </a:r>
          </a:p>
        </p:txBody>
      </p:sp>
    </p:spTree>
    <p:extLst>
      <p:ext uri="{BB962C8B-B14F-4D97-AF65-F5344CB8AC3E}">
        <p14:creationId xmlns:p14="http://schemas.microsoft.com/office/powerpoint/2010/main" val="321520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47A1B-92B7-4A41-848B-11C26B86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实验方法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9FC41-8A04-47FA-A23A-8E39B6E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实验设计：保持样本一致，只改变频段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581C5-D750-4799-80A0-B4B1EBB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02FD1-A506-49B2-BFD3-B811FD2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8761F-21B6-4B9A-B3E5-A462015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MDD-Mumtaz 闭眼 EEG：58 名被试，19 电极，200 Hz。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C0C51-7ABA-4165-A6E1-F5FC656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完整频谱与五个去频段版本各含 16,930 个匹配窗口。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DC5D1-0014-4355-9EE9-5D15A111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每个版本从随机初始化训练 15 次；同 seed 使用同一被试划分。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23A3D-3BD4-4190-9122-DC78AAB5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167D8D"/>
                </a:solidFill>
              </a:defRPr>
            </a:pPr>
            <a:r>
              <a:rPr sz="19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训练 80%   验证 10%   测试 10%（测试集暂未使用）</a:t>
            </a:r>
          </a:p>
        </p:txBody>
      </p:sp>
    </p:spTree>
    <p:extLst>
      <p:ext uri="{BB962C8B-B14F-4D97-AF65-F5344CB8AC3E}">
        <p14:creationId xmlns:p14="http://schemas.microsoft.com/office/powerpoint/2010/main" val="1146607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408FB-4011-4554-B4B6-3C7901A3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验证集结果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0AD6E-E1E1-4E0C-88AB-3CBDECB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去 alpha 的平均降幅最大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202C7-3E3F-44CE-B241-9D11FFFA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F21E2-0298-4B00-A5D8-7A925EB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EAB3B-E7E3-498C-B50A-2606DA4E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62727F"/>
                </a:solidFill>
              </a:defRPr>
            </a:pPr>
            <a:r>
              <a:rPr sz="1725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去除某频段后，相对完整频谱的窗口准确率变化（百分点）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410E0A8-7430-4D25-85C2-CC7BD6EC8C2E}"/>
              </a:ext>
            </a:extLst>
          </p:cNvPr>
          <p:cNvGraphicFramePr/>
          <p:nvPr/>
        </p:nvGraphicFramePr>
        <p:xfrm>
          <a:off xmlns:a="http://schemas.openxmlformats.org/drawingml/2006/main" x="952500" y="2457450"/>
          <a:ext xmlns:a="http://schemas.openxmlformats.org/drawingml/2006/main" cx="97155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6e6d963b2d4af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94F84-A3A9-4F60-991F-6B348D3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完整频谱：89.57%  |  去 alpha：87.83%（验证窗口准确率）</a:t>
            </a:r>
          </a:p>
        </p:txBody>
      </p:sp>
    </p:spTree>
    <p:extLst>
      <p:ext uri="{BB962C8B-B14F-4D97-AF65-F5344CB8AC3E}">
        <p14:creationId xmlns:p14="http://schemas.microsoft.com/office/powerpoint/2010/main" val="451531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BDB39-167A-4554-A403-BBECB039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6F215-AE24-43EB-863A-56B8073F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均值之外：alpha 的影响并非每次都大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BA78E-30CC-42F3-AC55-1577A95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695C2-6DC3-4675-A715-ACBC949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7F3AD-27E6-4A20-B692-6E1F7649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去 alpha：15 次中 11 次准确率下降，3 次上升，1 次不变。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2957-D52F-40DD-89D2-1181F7C3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平均下降 1.75 个百分点；中位下降仅 0.57 个百分点。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A472E-F2DB-4486-828F-BA53D18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两次约 9–10 个百分点的大降幅显著影响均值。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90C4B-6A40-42F5-A96A-C91A4FE5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初步线索：alpha 值得优先验证，尚不能认定为稳定生物标志物</a:t>
            </a:r>
          </a:p>
        </p:txBody>
      </p:sp>
    </p:spTree>
    <p:extLst>
      <p:ext uri="{BB962C8B-B14F-4D97-AF65-F5344CB8AC3E}">
        <p14:creationId xmlns:p14="http://schemas.microsoft.com/office/powerpoint/2010/main" val="2015993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42330-1E1A-4F9E-8256-2297E1EE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批判性检查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B1ABC-86D6-469A-8F5E-CC9A470C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这些实验回答了什么，尚未回答什么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3C540-D2E1-49EE-B529-1E68E7DE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26E7B-DA23-4146-8002-866033A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02455-8CBB-4768-82E5-E7D07B90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已回答：同一 LEADv2 协议下，去 alpha 更常损害 MDD 验证表现。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D6DF1-6B7B-4CC5-AB30-50508F1B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尚未回答：具体哪些电极的 alpha 信号起作用？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D921B-55B8-4675-A745-1929BAA0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尚未回答：这种现象能否迁移到其他疾病和独立队列？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D2AD6-8CF5-4D1F-8BA3-1709F17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>
                <a:solidFill>
                  <a:srgbClr val="D47A3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D47A39"/>
                </a:solidFill>
              </a:defRPr>
            </a:pPr>
            <a:r>
              <a:rPr sz="1800" b="1">
                <a:solidFill>
                  <a:srgbClr val="D47A39"/>
                </a:solidFill>
                <a:latin typeface="Microsoft YaHei"/>
                <a:ea typeface="Microsoft YaHei"/>
                <a:cs typeface="Microsoft YaHei"/>
              </a:rPr>
              <a:t>去频段会改变整个输入分布；性能差不能直接解释为因果贡献</a:t>
            </a:r>
          </a:p>
        </p:txBody>
      </p:sp>
    </p:spTree>
    <p:extLst>
      <p:ext uri="{BB962C8B-B14F-4D97-AF65-F5344CB8AC3E}">
        <p14:creationId xmlns:p14="http://schemas.microsoft.com/office/powerpoint/2010/main" val="2022062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63D87-1CE3-4613-AD0C-1E87557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23ABF-E5A0-4A9C-AC40-C22757B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下一步：电极与频段联合检验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0EC2D-4F42-45E8-91E2-EFC74B6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8D8BE-B489-4532-8153-D1238997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D090E-DDEB-47C7-8C96-536E03B3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先锁定分析方案：以 alpha 为重点，同时保留五频段对照。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9451D-59FA-45D3-8F2D-89C6CBE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比较单电极、脑区与电极×频段的定向扰动。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5F657-B17A-4AFA-81D8-3B9B3037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报告配对差值分布、患者级指标和跨划分一致性。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7AC84-3D15-48FE-A3BA-6338FD93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最终检验：公开数据集优先，医院数据用于后续外部验证</a:t>
            </a:r>
          </a:p>
        </p:txBody>
      </p:sp>
    </p:spTree>
    <p:extLst>
      <p:ext uri="{BB962C8B-B14F-4D97-AF65-F5344CB8AC3E}">
        <p14:creationId xmlns:p14="http://schemas.microsoft.com/office/powerpoint/2010/main" val="30683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F9FDB-E724-4A2F-AD68-F83B3A67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模型定位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F8ED7-83FC-4771-9F83-6E6C99B2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LEADv2 为主，LaBraM 用于检验模型依赖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BDDA3-5C5D-4780-917C-69BD6A5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2271D-BA34-4AE8-861C-2875FD5D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820E3-0B17-4A0A-91FA-A86C2C2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LEADv2：主模型，承担电极与频段筛选方法开发。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7CC6D-6494-4236-AB72-B30F9BF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LaBraM：后续独立对照，检验结论是否依赖单一架构。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486EB-1BA1-411B-82C0-0CE683A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当前跨模型实验尚不能证明某模型在所有疾病上更优。</a:t>
            </a:r>
          </a:p>
        </p:txBody>
      </p:sp>
    </p:spTree>
    <p:extLst>
      <p:ext uri="{BB962C8B-B14F-4D97-AF65-F5344CB8AC3E}">
        <p14:creationId xmlns:p14="http://schemas.microsoft.com/office/powerpoint/2010/main" val="860292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968A7-FD3E-4A2C-84D9-3C1434E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51586-09E9-43C9-BA4E-246F2110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讨论：什么才算“稳定的重要频段”？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D055E-C3C0-4ADC-B8A3-DC35713E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44A1F-B783-4881-A306-7E69F87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C24FA-AA22-4FD5-B814-BAF9E7B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当前证据：去 alpha 的 MDD 验证表现下降最一致。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5EFDE-1801-460E-809E-CBCD845D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待检验：这种差值能否跨被试、模型与疾病保持。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31CC1-3652-46FB-B31D-3880369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拟讨论：掩码方式、患者级主指标和最终测试协议。</a:t>
            </a:r>
          </a:p>
        </p:txBody>
      </p:sp>
    </p:spTree>
    <p:extLst>
      <p:ext uri="{BB962C8B-B14F-4D97-AF65-F5344CB8AC3E}">
        <p14:creationId xmlns:p14="http://schemas.microsoft.com/office/powerpoint/2010/main" val="2108447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2026-10-16T01:52:49.9350000Z</dcterms:created>
  <dcterms:modified xsi:type="dcterms:W3CDTF">2026-10-16T01:52:49.9350000Z</dcterms:modified>
</coreProperties>
</file>