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FYP 第二次汇报。核心模型为 LEADv2；LaBraM 用于公开数据对照。医院数据仅计划用于后期外部验证。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研究方向：在 LEADv2 基础上加入电极与频段数据掩码，比较多疾病任务中的稳定贡献。LaBraM 作为预训练模型对照，不作为主框架。数据划分必须按被试。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数据来源：C:/Users/ROG/Desktop/LEAD/dataset/L400/ADFTD-RS 与 RepOD。ADFTD-RS 测试被试为 7 人。RepOD 5 次 MCCV 使用种子 41–45、比例 0.6/0.8，且均筛选 200 Hz。医院数据未用于模型选择。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来源：C:/Users/ROG/Desktop/LEAD/results/LEADv2/finetune/LEADv2/P-Base-F-ADFTDRS-ADvsCN-200Hz-Full/results.txt。LaBraM 来源：C:/Users/ROG/Desktop/FYP/outputs/LaBraM_ADFTDRS_ADvsCN_200Hz_Full/subject_metrics.json。两者均为 200 Hz，测试 7 名被试。LaBraM 最佳权重按验证准确率选择。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来源：C:/Users/ROG/Desktop/LEAD/results/LEADv2/finetune/LEADv2/P-Base-F-RepOD-200Hz-MCCV/results.txt。LaBraM 由 seed 41–45 的 subject_metrics.json 汇总：41、42 位于 FYP/outputs，43–45 位于 LaBraM-main/outputs。标准差按五次结果的总体标准差计算。MCCV 测试集合可能重叠，不等同标准 5-fold CV。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每种子结果来自 P-Base-F-RepOD-200Hz-MCCV/results.txt；LaBraM 来自五个 subject_metrics.json。seed 43 使用 LaBraM-main/outputs/LaBraM_RepOD_200Hz_seed43_new，不使用失败的 seed43 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补充：LaBraM 多个训练日志包含 NaN/Infinity 梯度范数，需检查混合精度和数值稳定性。测试被试数极少，窗口不是独立患者。不能用测试集结果反向选择轮数或阈值。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 III 章：多目标向量包括图像融合损失和 K 个下游任务损失；候选向量控制损失权重。每个候选仅对融合网络进行临时一步梯度更新，以多任务验证准确率作为适应度；采用非退化约束。原论文未进行 EEG 电极或频段筛选。PDF 位于 C:/Users/ROG/Desktop/EEG/Symbiotic_Evolutionary_Learning_for_Task-Adaptive_Infrared_and_Visible_Image_Fusion.pdf。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映射属于本 FYP 的研究设想，而非论文已验证的 EEG 方法。尤其电极—频段掩码不在 EvoFuse 原始搜索变量中；图像 DRA 架构和 saliency loss 不适合原样迁移。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该页是拟议方法，尚未实现或证明有效。多疾病标签跨数据集可能与采集来源混杂，因此优先用疾病任务头与各任务独立被试划分；不直接把不同数据集的疾病标签合成一个多分类任务。优化目标可包括 subject-level balanced accuracy、掩码复杂度与跨折稳定性，需在实验前固定。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优先顺序：基线遮蔽和稳定性分析，再考虑轻量进化搜索。论文完整实验约 29.39 小时、单 RTX 4090；FYP EEG 数据和模型不同，不能预测精确训练时长。小测试集不适合作为进化适应度；需内部验证或嵌套划分。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报告结论：目前跨数据集没有单一模型恒优。下一步把提升公开数据集性能和稳定定位关键电极／频段作为主线；医院数据后期外部验证。进化搜索为候选算法，不把论文图像融合结构直接移植到 EEG。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1095375"/>
            <a:ext cx="66675" cy="18097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1066800"/>
            <a:ext cx="7524750" cy="1200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92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92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 LEAD 的多疾病 EEG</a:t>
            </a:r>
            <a:endParaRPr sz="2925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292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92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电极与频段筛选</a:t>
            </a:r>
            <a:endParaRPr sz="2925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24288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二次汇报：公开数据集基线与进化多目标方法可行性</a:t>
            </a:r>
            <a:endParaRPr sz="15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429250" y="3543300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r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Hua Chunyang（23259906）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810250" y="3905250"/>
            <a:ext cx="25050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208"/>
          </a:bodyPr>
          <a:lstStyle/>
          <a:p>
            <a:pPr algn="r">
              <a:defRPr sz="1200" b="0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2026-10-01</a:t>
            </a:r>
            <a:endParaRPr sz="1200" b="0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汇报内容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0477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50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90625" y="10477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研究问题与实验设置</a:t>
            </a:r>
            <a:endParaRPr sz="18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1647825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8859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50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90625" y="18859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LEADv2 与 LaBraM 对照</a:t>
            </a:r>
            <a:endParaRPr sz="18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0050" y="2486025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27241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50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90625" y="27241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进化算法与 FYP 的联系</a:t>
            </a:r>
            <a:endParaRPr sz="18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3324225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52450" y="3562350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50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90625" y="35623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下一阶段实验</a:t>
            </a:r>
            <a:endParaRPr sz="18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研究问题与模型定位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00012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核心问题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95300" y="1390650"/>
            <a:ext cx="80010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在多种疾病识别中，哪些电极、频段及其组合对被试级判断有稳定贡献？</a:t>
            </a:r>
            <a:endParaRPr sz="1875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2400300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263842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zh-CN" sz="157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想法：</a:t>
            </a:r>
            <a:r>
              <a:rPr sz="157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LEADv2 是主模型。LaBraM 用于检验结论是否依赖模型架构。</a:t>
            </a:r>
            <a:endParaRPr sz="157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3371850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公开数据集上的性能与可重复性是主实验。医院数据仅作后期外部验证。</a:t>
            </a:r>
            <a:endParaRPr sz="1575" b="0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公开数据集与比较协议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00050" y="1066800"/>
          <a:ext cx="8343900" cy="2428876"/>
        </p:xfrm>
        <a:graphic>
          <a:graphicData uri="http://schemas.openxmlformats.org/drawingml/2006/table">
            <a:tbl>
              <a:tblPr/>
              <a:tblGrid>
                <a:gridCol w="1476375"/>
                <a:gridCol w="1524000"/>
                <a:gridCol w="2952750"/>
                <a:gridCol w="2390775"/>
              </a:tblGrid>
              <a:tr h="60721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数据集</a:t>
                      </a:r>
                      <a:endParaRPr sz="12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疾病任务</a:t>
                      </a:r>
                      <a:endParaRPr sz="12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数据与划分</a:t>
                      </a:r>
                      <a:endParaRPr sz="12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本次状态</a:t>
                      </a:r>
                      <a:endParaRPr sz="12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ADFTD-RS</a:t>
                      </a:r>
                      <a:endParaRPr sz="127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 vs CN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 Hz；固定划分；测试 7 人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两个模型均完成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RepOD</a:t>
                      </a:r>
                      <a:endParaRPr sz="127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SZ vs HC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 Hz；5 次 MCCV；每次测试 6 人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两个模型均完成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ADFTD-RS</a:t>
                      </a:r>
                      <a:endParaRPr sz="127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FTD vs CN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 AD 任务同源，需单独验证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下一阶段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95300" y="376237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同一任务内保持标签方向、采样率和被试 ID 一致。窗口指标与被试指标分开报告。</a:t>
            </a:r>
            <a:endParaRPr sz="1425" b="0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438650"/>
            <a:ext cx="8239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注：5 次 MCCV 是重复随机划分，不是互不重叠的 5 折交叉验证。</a:t>
            </a:r>
            <a:endParaRPr sz="9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ADFTD-RS：LEAD 的窗口指标更高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00050" y="1114425"/>
          <a:ext cx="8343900" cy="2276476"/>
        </p:xfrm>
        <a:graphic>
          <a:graphicData uri="http://schemas.openxmlformats.org/drawingml/2006/table">
            <a:tbl>
              <a:tblPr/>
              <a:tblGrid>
                <a:gridCol w="2190750"/>
                <a:gridCol w="1790700"/>
                <a:gridCol w="1790700"/>
                <a:gridCol w="2571750"/>
              </a:tblGrid>
              <a:tr h="56911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测试指标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LEADv2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LaBraM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窗口准确率</a:t>
                      </a:r>
                      <a:endParaRPr sz="1350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79.34%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73.25%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LEAD 高 6.09 个百分点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窗口 AUROC</a:t>
                      </a:r>
                      <a:endParaRPr sz="1350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89.59%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81.89%*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评估精度尚待统一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被试准确率</a:t>
                      </a:r>
                      <a:endParaRPr sz="1350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6/7（85.71%）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6/7（85.71%）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两模型打平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95300" y="3648075"/>
            <a:ext cx="8191500" cy="581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单次固定划分、仅 7 名测试被试；结果说明当前设置下的差异，尚不能推断总体优劣。</a:t>
            </a:r>
            <a:endParaRPr sz="1500" b="0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438650"/>
            <a:ext cx="8239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 LaBraM 独立评估 AUROC 为 81.89%，最佳轮训练日志为约 78.89%。</a:t>
            </a:r>
            <a:endParaRPr sz="9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RepOD：LaBraM 五次平均更高，波动也更大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00050" y="1143000"/>
          <a:ext cx="8343900" cy="2286000"/>
        </p:xfrm>
        <a:graphic>
          <a:graphicData uri="http://schemas.openxmlformats.org/drawingml/2006/table">
            <a:tbl>
              <a:tblPr/>
              <a:tblGrid>
                <a:gridCol w="2819400"/>
                <a:gridCol w="2762250"/>
                <a:gridCol w="2762250"/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测试指标</a:t>
                      </a:r>
                      <a:endParaRPr sz="142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LEADv2</a:t>
                      </a:r>
                      <a:endParaRPr sz="142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LaBraM</a:t>
                      </a:r>
                      <a:endParaRPr sz="142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窗口准确率</a:t>
                      </a:r>
                      <a:endParaRPr sz="142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61.79 ± 6.73%</a:t>
                      </a:r>
                      <a:endParaRPr sz="142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70.93 ± 9.33%</a:t>
                      </a:r>
                      <a:endParaRPr sz="142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窗口 AUROC</a:t>
                      </a:r>
                      <a:endParaRPr sz="142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62.64 ± 10.37%</a:t>
                      </a:r>
                      <a:endParaRPr sz="142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79.45 ± 3.86%*</a:t>
                      </a:r>
                      <a:endParaRPr sz="142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被试准确率</a:t>
                      </a:r>
                      <a:endParaRPr sz="142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56.67 ± 8.16%</a:t>
                      </a:r>
                      <a:endParaRPr sz="142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76.67 ± 17.00%</a:t>
                      </a:r>
                      <a:endParaRPr sz="142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76250" y="36861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结果来自相同 200 Hz、种子 41–45 的 MCCV 设置。每次仅测试 6 人，应关注跨划分稳定性。</a:t>
            </a:r>
            <a:endParaRPr sz="1500" b="0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438650"/>
            <a:ext cx="8239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 LaBraM 独立评估与训练日志使用不同数值精度，AUROC 正式报告前需统一重算。</a:t>
            </a:r>
            <a:endParaRPr sz="9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RepOD 的划分敏感性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400050" y="1143000"/>
          <a:ext cx="8343900" cy="1847850"/>
        </p:xfrm>
        <a:graphic>
          <a:graphicData uri="http://schemas.openxmlformats.org/drawingml/2006/table">
            <a:tbl>
              <a:tblPr/>
              <a:tblGrid>
                <a:gridCol w="2238375"/>
                <a:gridCol w="1219200"/>
                <a:gridCol w="1219200"/>
                <a:gridCol w="1219200"/>
                <a:gridCol w="1219200"/>
                <a:gridCol w="1228725"/>
              </a:tblGrid>
              <a:tr h="615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种子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41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42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43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sz="13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LaBraM 被试正确数</a:t>
                      </a:r>
                      <a:endParaRPr sz="1350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LEAD 被试正确数</a:t>
                      </a:r>
                      <a:endParaRPr sz="1350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3/6</a:t>
                      </a:r>
                      <a:endParaRPr sz="1350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95300" y="3286125"/>
            <a:ext cx="81153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seed 43：LaBraM 将 3 名 SZ 被试全部判为 HC。seed 45：6 名被试全部判对。</a:t>
            </a:r>
            <a:endParaRPr sz="1575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4038600"/>
            <a:ext cx="81153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单次最好结果不能代表模型性能；多次重复的离散程度是研究结果的一部分。</a:t>
            </a:r>
            <a:endParaRPr sz="1425" b="0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目前能得出的结论与限制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990600"/>
            <a:ext cx="1762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ADFTD-RS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238375" y="990600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 的窗口指标更高；被试级均为 6/7。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1638300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1828800"/>
            <a:ext cx="1762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RepOD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38375" y="1828800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LaBraM 的五次平均较高，但被试准确率范围为 50%–100%。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0050" y="2476500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2667000"/>
            <a:ext cx="1762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尚未解决</a:t>
            </a:r>
            <a:endParaRPr sz="1575" b="1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38375" y="2667000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561"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两模型被试级 AUROC 口径不同；LaBraM 日志与独立评估 AUROC 存在差异。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3314700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95300" y="3505200"/>
            <a:ext cx="1762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研究含义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38375" y="3505200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关键特征是否跨模型、跨疾病保持稳定，比一次准确率更重要。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参考论文：EvoFuse 的进化多目标学习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933450"/>
            <a:ext cx="814387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原问题：图像融合要同时服务多个视觉任务。固定损失权重可能使任务之间互相牵制。</a:t>
            </a:r>
            <a:endParaRPr sz="150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95300" y="1857375"/>
            <a:ext cx="4572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38225" y="1857375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候选解</a:t>
            </a:r>
            <a:endParaRPr sz="15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43200" y="1857375"/>
            <a:ext cx="5476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一组融合损失与任务损失的权重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2552700"/>
            <a:ext cx="4572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38225" y="2552700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候选评估</a:t>
            </a:r>
            <a:endParaRPr sz="15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43200" y="2552700"/>
            <a:ext cx="5476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临时更新一步，在验证集上评估所有任务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5300" y="3248025"/>
            <a:ext cx="4572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38225" y="3248025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进化选择</a:t>
            </a:r>
            <a:endParaRPr sz="15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43200" y="3248025"/>
            <a:ext cx="5476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选优、交叉、变异；仅接受不损害其他任务的更新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论文思想与 FYP 的映射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00050" y="1000125"/>
          <a:ext cx="8343900" cy="2857500"/>
        </p:xfrm>
        <a:graphic>
          <a:graphicData uri="http://schemas.openxmlformats.org/drawingml/2006/table">
            <a:tbl>
              <a:tblPr/>
              <a:tblGrid>
                <a:gridCol w="1952625"/>
                <a:gridCol w="3476625"/>
                <a:gridCol w="291465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EvoFuse 原设定</a:t>
                      </a:r>
                      <a:endParaRPr sz="12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FYP 可对应的模块</a:t>
                      </a:r>
                      <a:endParaRPr sz="12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是否可直接沿用</a:t>
                      </a:r>
                      <a:endParaRPr sz="12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24374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融合网络</a:t>
                      </a:r>
                      <a:endParaRPr sz="127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LEAD 共享 EEG 表征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需重新设计输入接口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视觉任务模型</a:t>
                      </a:r>
                      <a:endParaRPr sz="127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AD、FTD、SZ 的任务头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可借鉴多任务组织方式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搜索损失权重</a:t>
                      </a:r>
                      <a:endParaRPr sz="127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搜索任务权重或电极—频段掩码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掩码搜索是本项目的新扩展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视觉保真损失</a:t>
                      </a:r>
                      <a:endParaRPr sz="1275" b="1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稀疏度、稳定性或信号保真约束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437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不能直接搬用图像损失</a:t>
                      </a:r>
                      <a:endParaRPr sz="1275">
                        <a:solidFill>
                          <a:srgbClr val="2437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47625" marB="47625" anchor="ctr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00050" y="4438650"/>
            <a:ext cx="8239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9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论文中的 multi-frequency 指图像卷积感受野，不等于 EEG 的 δ、θ、α、β、γ 频段。</a:t>
            </a:r>
            <a:endParaRPr sz="9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拟议算法：任务感知的电极—频段掩码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000125"/>
            <a:ext cx="8096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 编码器保持主干；在输入端加入可控的电极 × 频段掩码。</a:t>
            </a:r>
            <a:endParaRPr sz="165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724025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905000"/>
            <a:ext cx="1428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搜索变量</a:t>
            </a:r>
            <a:endParaRPr sz="1500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19300" y="1905000"/>
            <a:ext cx="642937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每个候选解指定保留的电极、频段及任务权重。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52450" y="2505075"/>
            <a:ext cx="1428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</a:t>
            </a:r>
            <a:endParaRPr sz="1500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19300" y="2505075"/>
            <a:ext cx="642937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提高各疾病被试级表现，同时减少所需电极与频段。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105150"/>
            <a:ext cx="1428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约束</a:t>
            </a:r>
            <a:endParaRPr sz="1500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19300" y="3105150"/>
            <a:ext cx="642937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候选仅用训练集与内部验证集筛选；测试集最后评估一次。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3705225"/>
            <a:ext cx="1428750" cy="352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</a:t>
            </a:r>
            <a:endParaRPr sz="1500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019300" y="3705225"/>
            <a:ext cx="642937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整体折中方案，以及各疾病可重复出现的关键组合。</a:t>
            </a:r>
            <a:endParaRPr sz="1350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算法可行性：先做小规模验证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107188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 A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876425" y="1028700"/>
            <a:ext cx="6572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单电极、单频段及组合遮蔽</a:t>
            </a:r>
            <a:endParaRPr sz="15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876425" y="1438275"/>
            <a:ext cx="647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确认重要性是否稳定</a:t>
            </a:r>
            <a:endParaRPr sz="135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1914525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14350" y="213360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 B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76425" y="2085975"/>
            <a:ext cx="6572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冻结大部分 LEAD 参数，小群体搜索掩码</a:t>
            </a:r>
            <a:endParaRPr sz="15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76425" y="2495550"/>
            <a:ext cx="647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与随机搜索、贪心选择比较</a:t>
            </a:r>
            <a:endParaRPr sz="135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2971800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14350" y="3195320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 C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76425" y="3143250"/>
            <a:ext cx="6572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仅当任务之间确有冲突，再搜索损失权重</a:t>
            </a:r>
            <a:endParaRPr sz="15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876425" y="3552825"/>
            <a:ext cx="647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考察 Pareto 折中与跨疾病性能</a:t>
            </a:r>
            <a:endParaRPr sz="135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8600" y="114300"/>
            <a:ext cx="8524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下一阶段工作</a:t>
            </a:r>
            <a:endParaRPr sz="2100" b="1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43875" y="4838700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/>
          </a:bodyPr>
          <a:lstStyle/>
          <a:p>
            <a:pPr algn="r">
              <a:def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975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971550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统一评价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038350" y="971550"/>
            <a:ext cx="64103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对齐混合精度、窗口概率汇总与被试级 AUROC 计算。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1628775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1781175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扩展疾病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38350" y="1781175"/>
            <a:ext cx="64103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补齐 FTD vs CN，并检查不同疾病任务是否共享稳定特征。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0050" y="2438400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2590800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筛选基线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38350" y="2590800"/>
            <a:ext cx="64103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 LEAD 上做电极和频段遮蔽、随机掩码与组合搜索。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3248025"/>
            <a:ext cx="8334375" cy="9525"/>
          </a:xfrm>
          <a:prstGeom prst="rect">
            <a:avLst/>
          </a:prstGeom>
          <a:solidFill>
            <a:srgbClr val="CBD8DF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95300" y="3400425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算法验证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038350" y="3400425"/>
            <a:ext cx="64103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243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仅用内部验证集选择掩码；公开测试集评估性能与稳定性。</a:t>
            </a:r>
            <a:endParaRPr sz="1425" b="0">
              <a:solidFill>
                <a:srgbClr val="243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2019</Words>
  <Application>WPS 演示</Application>
  <PresentationFormat>Converted Presentation</PresentationFormat>
  <Paragraphs>343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WPS_1687824760</cp:lastModifiedBy>
  <cp:revision>1</cp:revision>
  <dcterms:created xsi:type="dcterms:W3CDTF">2026-10-01T12:19:52Z</dcterms:created>
  <dcterms:modified xsi:type="dcterms:W3CDTF">2026-10-01T12:19:52Z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778835638A364851BCEC15E829E1EEA9_12</vt:lpwstr>
  </property>
</Properties>
</file>