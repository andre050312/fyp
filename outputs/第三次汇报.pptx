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7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准确率变化</c:f>
              <c:strCache>
                <c:ptCount val="1"/>
                <c:pt idx="0">
                  <c:v>准确率变化</c:v>
                </c:pt>
              </c:strCache>
            </c:strRef>
          </c:tx>
          <c:spPr>
            <a:solidFill>
              <a:srgbClr val="167D8D"/>
            </a:solidFill>
          </c:spPr>
          <c:invertIfNegative val="0"/>
          <c:dLbls>
            <c:numFmt formatCode="0.00;\-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'Chart Data'!$A$2:$A$6</c:f>
              <c:strCache>
                <c:ptCount val="5"/>
                <c:pt idx="0">
                  <c:v>delta</c:v>
                </c:pt>
                <c:pt idx="1">
                  <c:v>theta</c:v>
                </c:pt>
                <c:pt idx="2">
                  <c:v>alpha</c:v>
                </c:pt>
                <c:pt idx="3">
                  <c:v>beta</c:v>
                </c:pt>
                <c:pt idx="4">
                  <c:v>gamma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-0.686</c:v>
                </c:pt>
                <c:pt idx="1">
                  <c:v>1.412</c:v>
                </c:pt>
                <c:pt idx="2">
                  <c:v>-1.746</c:v>
                </c:pt>
                <c:pt idx="3">
                  <c:v>0.676</c:v>
                </c:pt>
                <c:pt idx="4">
                  <c:v>-0.598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425" b="0" i="0" u="none" strike="noStrike" kern="1200" baseline="0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E3E8"/>
              </a:solidFill>
              <a:prstDash val="solid"/>
              <a:round/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75" b="0" i="0" u="none" strike="noStrike" kern="1200" baseline="0">
                <a:solidFill>
                  <a:srgbClr val="666666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pPr>
          </a:p>
        </c:txPr>
        <c:crossAx val="48650112"/>
        <c:crosses val="autoZero"/>
        <c:crossBetween val="between"/>
      </c:valAx>
      <c:spPr>
        <a:noFill/>
      </c:spPr>
    </c:plotArea>
    <c:plotVisOnly val="1"/>
    <c:dispBlanksAs val="gap"/>
    <c:showDLblsOverMax val="0"/>
    <c:extLst>
      <c:ext uri="{0b15fc19-7d7d-44ad-8c2d-2c3a37ce22c3}">
        <chartProps xmlns="https://web.wps.cn/et/2018/main" chartId="{f45f992e-fa13-4236-9999-01154682b576}"/>
      </c:ext>
    </c:extLst>
  </c:chart>
  <c:spPr>
    <a:noFill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报告聚焦 FYP 的研究问题和现阶段证据。方法主线为 LEADv2；LaBraM 仅作为模型对照。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来源：outputs/LEAD和LaBraM对比总表.md（2026-10-10）。全部为公开数据集测试结果，患者级准确率用多数投票。AD 与 FTD 是单次固定划分，测试分别仅 7、6 人；FTD 的 LEAD 实际采样率配置待核实。MDD 与 SZ 是五次重复随机被试划分，显示总体均值，不是五折交叉验证，也不是独立的 30 名测试者。MDD 患者级 LEAD 93.33% ± 8.16%，LaBraM 96.67% ± 6.67%；SZ 分别 56.67% ± 8.16% 和 76.67% ± 17.00%。选 LEADv2 是基于本项目的电极与频段筛选目标及已建立的复现、随机初始化训练和 15-seed 消融流程；不是声称 LEAD 在所有任务的分类性能更高。LaBraM 保留为独立对照。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按问题、方法、实验、局限和下一步组织。听众只需要知道 EEG 由多个电极采集，信号可分为不同频段。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公开数据集上的提升和可靠解释是主线。医院数据只作为未来外部验证。片段随机划分会造成同一被试的泄漏，因此按被试划分。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论文：Wang et al., LEAD: Large Foundation Model for EEG-Based Alzheimer’s Disease Detection, arXiv:2502.01678, https://arxiv.org/abs/2502.01678 。此处不声称原论文已经完成本 FYP 的频段解释研究。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数据集为 MDD-Mumtaz，HC 28 人、MDD 30 人，2 秒窗、1 秒步长。频段去除在连续信号上滤波，然后按基线保留窗口对齐。每个 seed 的训练/验证/测试被试不重叠；不同 seed 的划分可重叠，故不是 15 个独立队列。来源：working/frequency_data/omit_alpha/MDD-Mumtaz/meta.json 及各 run metrics.json。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15 seed 均值：baseline 89.574%; omit delta 88.887%; theta 90.986%; alpha 87.828%; beta 90.250%; gamma 88.976%。这里的差值按同 seed 配对。数据：output_Test/from_scratch*/seed*/metrics.json。仅为验证集结果。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seed 43 与 45 的去 alpha 差值分别约 -9.21 与 -9.86 个百分点。AUROC 平均下降约 0.0274。窗级指标有同被试多窗相关性，被试级准确率基线 95.56%，去 alpha 94.44%；每次验证仅 6 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频段滤波并非精确独立切除特征，边界会残留。多个频段、多个 seed 的探索存在选择偏差。测试集必须留到分析方案锁定以后。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增加只保留目标频段与去除目标频段的互补设计，并在训练阶段/测试阶段区分掩码的作用。应预先指定主指标和比较计划，防止看测试集选特征。若扩展到多疾病，应先分别定义任务和统一预处理，再考虑多任务共享表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LEAD https://arxiv.org/abs/2502.01678；LaBraM: Jiang et al., Large Brain Model for Learning Generic Representations with Tremendous EEG Data in BCI, ICLR 2024, https://arxiv.org/abs/2405.18765 。现有比较涉及 AD、FTD、MDD、SZ，但设置/样本量差异较大，故只讲定位，不做全局胜负结论。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希望讨论算法/模型构建：定向频段掩码是否作为数据增强；若多疾病，是否以疾病分类为标签，还是多任务目标。当前优先把单任务消融做扎实。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28650" y="1143000"/>
            <a:ext cx="6191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3900">
                <a:solidFill>
                  <a:srgbClr val="17324D"/>
                </a:solidFill>
              </a:defRPr>
            </a:defPPr>
          </a:lstStyle>
          <a:p>
            <a:pPr>
              <a:defRPr sz="3900">
                <a:solidFill>
                  <a:srgbClr val="17324D"/>
                </a:solidFill>
              </a:defRPr>
            </a:pPr>
            <a:r>
              <a:rPr sz="39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第三次汇报</a:t>
            </a:r>
            <a:endParaRPr sz="39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2133600"/>
            <a:ext cx="101917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550">
                <a:solidFill>
                  <a:srgbClr val="167D8D"/>
                </a:solidFill>
              </a:defRPr>
            </a:defPPr>
          </a:lstStyle>
          <a:p>
            <a:pPr>
              <a:defRPr sz="2550">
                <a:solidFill>
                  <a:srgbClr val="167D8D"/>
                </a:solidFill>
              </a:defRPr>
            </a:pPr>
            <a:r>
              <a:rPr sz="2550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LEADv2 上的 EEG 电极与频段筛选</a:t>
            </a:r>
            <a:endParaRPr sz="2550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47700" y="3076575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025">
                <a:solidFill>
                  <a:srgbClr val="23313D"/>
                </a:solidFill>
              </a:defRPr>
            </a:defPPr>
          </a:lstStyle>
          <a:p>
            <a:pPr>
              <a:defRPr sz="2025">
                <a:solidFill>
                  <a:srgbClr val="23313D"/>
                </a:solidFill>
              </a:defRPr>
            </a:pPr>
            <a:r>
              <a:rPr sz="202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从公开数据集复现，到可重复的频段消融</a:t>
            </a:r>
            <a:endParaRPr sz="202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47700" y="5534025"/>
            <a:ext cx="7620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500">
                <a:solidFill>
                  <a:srgbClr val="62727F"/>
                </a:solidFill>
              </a:defRPr>
            </a:defPPr>
          </a:lstStyle>
          <a:p>
            <a:pPr>
              <a:defRPr sz="1500">
                <a:solidFill>
                  <a:srgbClr val="62727F"/>
                </a:solidFill>
              </a:defRPr>
            </a:pPr>
            <a:r>
              <a:rPr sz="150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Hua Chunyang  ·  16 October 2026</a:t>
            </a:r>
            <a:endParaRPr sz="150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模型比较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LEADv2 与 LaBraM：为何选择 LEADv2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00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01930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患者级（LEAD/LaBraM）：AD 均 6/7，FTD 均 6/6。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3019425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MDD 93.3% / 96.7%；SZ 56.7% / 76.7%（五次均值）。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401955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 LEADv2：贴合电极×频段研究，已完成可重复消融流程。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本次汇报的三个问题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42950" y="2000250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75">
                <a:solidFill>
                  <a:srgbClr val="23313D"/>
                </a:solidFill>
              </a:defRPr>
            </a:defPPr>
          </a:lstStyle>
          <a:p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为什么需要筛选电极与频段？</a:t>
            </a:r>
            <a:endParaRPr sz="21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42950" y="2990850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75">
                <a:solidFill>
                  <a:srgbClr val="23313D"/>
                </a:solidFill>
              </a:defRPr>
            </a:defPPr>
          </a:lstStyle>
          <a:p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LEADv2 的公开数据集结果支持什么？</a:t>
            </a:r>
            <a:endParaRPr sz="21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42950" y="3981450"/>
            <a:ext cx="1038225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75">
                <a:solidFill>
                  <a:srgbClr val="23313D"/>
                </a:solidFill>
              </a:defRPr>
            </a:defPPr>
          </a:lstStyle>
          <a:p>
            <a:pPr>
              <a:defRPr sz="2175">
                <a:solidFill>
                  <a:srgbClr val="23313D"/>
                </a:solidFill>
              </a:defRPr>
            </a:pPr>
            <a:r>
              <a:rPr sz="21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怎样把初步消融变成可信的研究结论？</a:t>
            </a:r>
            <a:endParaRPr sz="21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动机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研究问题：模型究竟依赖什么信号？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028825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目标：在多疾病 EEG 识别中寻找稳定贡献的电极与频段。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302895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困难：高准确率可能来自被试、记录方式或数据集差异。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4029075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关键：在相同被试划分下，移除某部分信号并重新训练。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5476875"/>
            <a:ext cx="9715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100">
                <a:solidFill>
                  <a:srgbClr val="167D8D"/>
                </a:solidFill>
              </a:defRPr>
            </a:defPPr>
          </a:lstStyle>
          <a:p>
            <a:pPr>
              <a:defRPr sz="2100">
                <a:solidFill>
                  <a:srgbClr val="167D8D"/>
                </a:solidFill>
              </a:defRPr>
            </a:pPr>
            <a:r>
              <a:rPr sz="2100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分类相关 ≠ 疾病因果机制</a:t>
            </a:r>
            <a:endParaRPr sz="2100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论文与方法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LEADv2 提供统一的 EEG 建模底座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019300"/>
            <a:ext cx="1057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LEAD 面向异构 EEG：不同电极布局与采样率仍可统一建模。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3048000"/>
            <a:ext cx="1057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本项目沿用 LEADv2 的网络结构，先建立完整频谱基线。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4076700"/>
            <a:ext cx="105727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再对输入进行定向扰动，检验分类对信号成分的依赖。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实验方法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实验设计：保持样本一致，只改变频段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019300"/>
            <a:ext cx="105727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MDD-Mumtaz 闭眼 EEG：58 名被试，19 电极，200 Hz。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3038475"/>
            <a:ext cx="105727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完整频谱与五个去频段版本各含 16,930 个匹配窗口。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4057650"/>
            <a:ext cx="105727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每个版本从随机初始化训练 15 次；同 seed 使用同一被试划分。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23900" y="5391150"/>
            <a:ext cx="10477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>
                <a:solidFill>
                  <a:srgbClr val="167D8D"/>
                </a:solidFill>
              </a:defRPr>
            </a:defPPr>
          </a:lstStyle>
          <a:p>
            <a:pPr>
              <a:defRPr sz="1950">
                <a:solidFill>
                  <a:srgbClr val="167D8D"/>
                </a:solidFill>
              </a:defRPr>
            </a:pPr>
            <a:r>
              <a:rPr sz="1950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 80%   验证 10%   测试 10%（测试集暂未使用）</a:t>
            </a:r>
            <a:endParaRPr sz="1950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验证集结果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 alpha 的平均降幅最大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1771650"/>
            <a:ext cx="10287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725">
                <a:solidFill>
                  <a:srgbClr val="62727F"/>
                </a:solidFill>
              </a:defRPr>
            </a:defPPr>
          </a:lstStyle>
          <a:p>
            <a:pPr>
              <a:defRPr sz="1725">
                <a:solidFill>
                  <a:srgbClr val="62727F"/>
                </a:solidFill>
              </a:defRPr>
            </a:pPr>
            <a:r>
              <a:rPr sz="1725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去除某频段后，相对完整频谱的窗口准确率变化（百分点）</a:t>
            </a:r>
            <a:endParaRPr sz="1725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Chart"/>
          <p:cNvGraphicFramePr/>
          <p:nvPr/>
        </p:nvGraphicFramePr>
        <p:xfrm>
          <a:off x="952500" y="2457450"/>
          <a:ext cx="9715500" cy="2781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723900" y="5457825"/>
            <a:ext cx="105727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17324D"/>
                </a:solidFill>
              </a:defRPr>
            </a:defPPr>
          </a:lstStyle>
          <a:p>
            <a:pPr>
              <a:defRPr sz="1875">
                <a:solidFill>
                  <a:srgbClr val="17324D"/>
                </a:solidFill>
              </a:defRPr>
            </a:pPr>
            <a:r>
              <a:rPr sz="1875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完整频谱：89.57%  |  去 alpha：87.83%（验证窗口准确率）</a:t>
            </a:r>
            <a:endParaRPr sz="1875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均值之外：alpha 的影响并非每次都大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01930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 alpha：11/15 次下降；delta、gamma 均值降，theta、beta 均值升。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3019425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平均下降 1.75 个百分点；中位下降仅 0.57 个百分点。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401955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两次约 9–10 个百分点的大降幅显著影响均值。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14375" y="5467350"/>
            <a:ext cx="10668000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167D8D"/>
                </a:solidFill>
              </a:defRPr>
            </a:defPPr>
          </a:lstStyle>
          <a:p>
            <a:pPr>
              <a:defRPr sz="1875">
                <a:solidFill>
                  <a:srgbClr val="167D8D"/>
                </a:solidFill>
              </a:defRPr>
            </a:pPr>
            <a:r>
              <a:rPr sz="187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初步线索：alpha 值得优先验证，尚不能认定为稳定生物标志物</a:t>
            </a:r>
            <a:endParaRPr sz="187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批判性检查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这些实验回答了什么，尚未回答什么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01930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已回答：同一 LEADv2 协议下，去 alpha 更常损害 MDD 验证表现。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3019425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尚未回答：alpha、delta、gamma 分别依赖哪些电极？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401955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尚未回答：这种现象能否迁移到其他疾病和独立队列？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14375" y="5448300"/>
            <a:ext cx="1066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00">
                <a:solidFill>
                  <a:srgbClr val="D47A39"/>
                </a:solidFill>
              </a:defRPr>
            </a:defPPr>
          </a:lstStyle>
          <a:p>
            <a:pPr>
              <a:defRPr sz="1800">
                <a:solidFill>
                  <a:srgbClr val="D47A39"/>
                </a:solidFill>
              </a:defRPr>
            </a:pPr>
            <a:r>
              <a:rPr sz="1800" b="1">
                <a:solidFill>
                  <a:srgbClr val="D47A3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去频段会改变整个输入分布；性能差不能直接解释为因果贡献</a:t>
            </a:r>
            <a:endParaRPr sz="1800" b="1">
              <a:solidFill>
                <a:srgbClr val="D47A3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研究计划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下一步：电极与频段联合检验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01930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五频段并列评估；先优先检查 alpha，再检验 delta 与 gamma。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3019425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比较单电极、脑区与电极×频段的定向扰动。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401955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报告配对差值分布、患者级指标和跨划分一致性。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14375" y="5467350"/>
            <a:ext cx="10668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167D8D"/>
                </a:solidFill>
              </a:defRPr>
            </a:defPPr>
          </a:lstStyle>
          <a:p>
            <a:pPr>
              <a:defRPr sz="1875">
                <a:solidFill>
                  <a:srgbClr val="167D8D"/>
                </a:solidFill>
              </a:defRPr>
            </a:pPr>
            <a:r>
              <a:rPr sz="187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最终检验：公开数据集优先，医院数据用于后续外部验证</a:t>
            </a:r>
            <a:endParaRPr sz="187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模型定位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LEADv2 为主，LaBraM 用于检验模型依赖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01930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LEADv2：主模型，承担电极与频段筛选方法开发。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3019425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LaBraM：后续独立对照，检验结论是否依赖单一架构。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4019550"/>
            <a:ext cx="10572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875">
                <a:solidFill>
                  <a:srgbClr val="23313D"/>
                </a:solidFill>
              </a:defRPr>
            </a:defPPr>
          </a:lstStyle>
          <a:p>
            <a:pPr>
              <a:defRPr sz="1875">
                <a:solidFill>
                  <a:srgbClr val="23313D"/>
                </a:solidFill>
              </a:defRPr>
            </a:pPr>
            <a:r>
              <a:rPr sz="1875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当前跨模型实验尚不能证明某模型在所有疾病上更优。</a:t>
            </a:r>
            <a:endParaRPr sz="1875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428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125">
                <a:solidFill>
                  <a:srgbClr val="167D8D"/>
                </a:solidFill>
              </a:defRPr>
            </a:defPPr>
          </a:lstStyle>
          <a:p>
            <a:pPr>
              <a:defRPr sz="1125">
                <a:solidFill>
                  <a:srgbClr val="167D8D"/>
                </a:solidFill>
              </a:defRPr>
            </a:pPr>
            <a:r>
              <a:rPr sz="1125" b="1">
                <a:solidFill>
                  <a:srgbClr val="167D8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总结</a:t>
            </a:r>
            <a:endParaRPr sz="1125" b="1">
              <a:solidFill>
                <a:srgbClr val="167D8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752475"/>
            <a:ext cx="10953750" cy="695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2700">
                <a:solidFill>
                  <a:srgbClr val="17324D"/>
                </a:solidFill>
              </a:defRPr>
            </a:defPPr>
          </a:lstStyle>
          <a:p>
            <a:pPr>
              <a:defRPr sz="2700">
                <a:solidFill>
                  <a:srgbClr val="17324D"/>
                </a:solidFill>
              </a:defRPr>
            </a:pPr>
            <a:r>
              <a:rPr sz="2700" b="1">
                <a:solidFill>
                  <a:srgbClr val="17324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讨论：什么才算“稳定的重要频段”？</a:t>
            </a:r>
            <a:endParaRPr sz="2700" b="1">
              <a:solidFill>
                <a:srgbClr val="17324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609600" y="1543050"/>
            <a:ext cx="10972800" cy="9525"/>
          </a:xfrm>
          <a:prstGeom prst="line">
            <a:avLst/>
          </a:prstGeom>
          <a:noFill/>
          <a:ln w="9525">
            <a:solidFill>
              <a:srgbClr val="D9E3E8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1020425" y="6305550"/>
            <a:ext cx="571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050">
                <a:solidFill>
                  <a:srgbClr val="62727F"/>
                </a:solidFill>
              </a:defRPr>
            </a:defPPr>
          </a:lstStyle>
          <a:p>
            <a:pPr>
              <a:defRPr sz="1050">
                <a:solidFill>
                  <a:srgbClr val="62727F"/>
                </a:solidFill>
              </a:defRPr>
            </a:pPr>
            <a:r>
              <a:rPr sz="1050" b="0">
                <a:solidFill>
                  <a:srgbClr val="62727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0">
              <a:solidFill>
                <a:srgbClr val="62727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2028825"/>
            <a:ext cx="10572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>
                <a:solidFill>
                  <a:srgbClr val="23313D"/>
                </a:solidFill>
              </a:defRPr>
            </a:defPPr>
          </a:lstStyle>
          <a:p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当前证据：alpha 降幅最一致；delta、gamma 均值降，theta、beta 均值升。</a:t>
            </a:r>
            <a:endParaRPr sz="1950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3038475"/>
            <a:ext cx="10572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>
                <a:solidFill>
                  <a:srgbClr val="23313D"/>
                </a:solidFill>
              </a:defRPr>
            </a:defPPr>
          </a:lstStyle>
          <a:p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待检验：这种差值能否跨被试、模型与疾病保持。</a:t>
            </a:r>
            <a:endParaRPr sz="1950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4048125"/>
            <a:ext cx="10572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sz="1950">
                <a:solidFill>
                  <a:srgbClr val="23313D"/>
                </a:solidFill>
              </a:defRPr>
            </a:defPPr>
          </a:lstStyle>
          <a:p>
            <a:pPr>
              <a:defRPr sz="1950">
                <a:solidFill>
                  <a:srgbClr val="23313D"/>
                </a:solidFill>
              </a:defRPr>
            </a:pPr>
            <a:r>
              <a:rPr sz="1950" b="0">
                <a:solidFill>
                  <a:srgbClr val="233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拟讨论：掩码方式、患者级主指标和最终测试协议。</a:t>
            </a:r>
            <a:endParaRPr sz="1950" b="0">
              <a:solidFill>
                <a:srgbClr val="233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1408</Words>
  <Application>WPS 演示</Application>
  <PresentationFormat>Converted Presentation</PresentationFormat>
  <Paragraphs>148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Calibri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WPS_1687824760</cp:lastModifiedBy>
  <cp:revision>1</cp:revision>
  <dcterms:created xsi:type="dcterms:W3CDTF">2026-10-16T02:54:59Z</dcterms:created>
  <dcterms:modified xsi:type="dcterms:W3CDTF">2026-10-16T02:54:59Z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61733D872E874E2FB6F5262440CFB491_12</vt:lpwstr>
  </property>
  <property fmtid="{D5CDD505-2E9C-101B-9397-08002B2CF9AE}" pid="3" name="KSOProductBuildVer">
    <vt:lpwstr>2052-12.1.0.28505</vt:lpwstr>
  </property>
</Properties>
</file>