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f42ba8c44c4638" /><Relationship Type="http://schemas.openxmlformats.org/officeDocument/2006/relationships/extended-properties" Target="/docProps/app.xml" Id="R3c44a61d07f44487" /><Relationship Type="http://schemas.openxmlformats.org/officeDocument/2006/relationships/officeDocument" Target="/ppt/presentation.xml" Id="Rbad0a0e42fd8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136522a2a4dba"/>
  </p:sldMasterIdLst>
  <p:notesMasterIdLst>
    <p:notesMasterId xmlns:r="http://schemas.openxmlformats.org/officeDocument/2006/relationships" r:id="Reced22e70c7a469e"/>
  </p:notesMasterIdLst>
  <p:sldIdLst>
    <p:sldId xmlns:r="http://schemas.openxmlformats.org/officeDocument/2006/relationships" id="256" r:id="Ra02563f03f8e46bb"/>
    <p:sldId xmlns:r="http://schemas.openxmlformats.org/officeDocument/2006/relationships" id="257" r:id="R5087cf61ac7e4621"/>
    <p:sldId xmlns:r="http://schemas.openxmlformats.org/officeDocument/2006/relationships" id="258" r:id="R66984d64a5b34254"/>
    <p:sldId xmlns:r="http://schemas.openxmlformats.org/officeDocument/2006/relationships" id="259" r:id="R52625b240dd445d2"/>
    <p:sldId xmlns:r="http://schemas.openxmlformats.org/officeDocument/2006/relationships" id="260" r:id="R0052c2bbb4f44344"/>
    <p:sldId xmlns:r="http://schemas.openxmlformats.org/officeDocument/2006/relationships" id="261" r:id="R461abe7a900c48c0"/>
    <p:sldId xmlns:r="http://schemas.openxmlformats.org/officeDocument/2006/relationships" id="262" r:id="R358452bfc5434d37"/>
    <p:sldId xmlns:r="http://schemas.openxmlformats.org/officeDocument/2006/relationships" id="263" r:id="R3876ec1c30284e84"/>
    <p:sldId xmlns:r="http://schemas.openxmlformats.org/officeDocument/2006/relationships" id="264" r:id="R0edaafa3d3984fad"/>
    <p:sldId xmlns:r="http://schemas.openxmlformats.org/officeDocument/2006/relationships" id="265" r:id="Rcb0e1291b1a44166"/>
    <p:sldId xmlns:r="http://schemas.openxmlformats.org/officeDocument/2006/relationships" id="266" r:id="Re6d2c37c344744a3"/>
    <p:sldId xmlns:r="http://schemas.openxmlformats.org/officeDocument/2006/relationships" id="267" r:id="Rd1d8e23572ed49bd"/>
    <p:sldId xmlns:r="http://schemas.openxmlformats.org/officeDocument/2006/relationships" id="268" r:id="Re0eeb38472fe4213"/>
    <p:sldId xmlns:r="http://schemas.openxmlformats.org/officeDocument/2006/relationships" id="269" r:id="Ra2a4f111438c4520"/>
    <p:sldId xmlns:r="http://schemas.openxmlformats.org/officeDocument/2006/relationships" id="270" r:id="R13a71d2dde264596"/>
    <p:sldId xmlns:r="http://schemas.openxmlformats.org/officeDocument/2006/relationships" id="271" r:id="R74d3e446f6aa47f7"/>
    <p:sldId xmlns:r="http://schemas.openxmlformats.org/officeDocument/2006/relationships" id="272" r:id="R7e7f146749b84930"/>
    <p:sldId xmlns:r="http://schemas.openxmlformats.org/officeDocument/2006/relationships" id="273" r:id="Rb5e238d092704234"/>
    <p:sldId xmlns:r="http://schemas.openxmlformats.org/officeDocument/2006/relationships" id="274" r:id="Re47a70ecb25d42c1"/>
    <p:sldId xmlns:r="http://schemas.openxmlformats.org/officeDocument/2006/relationships" id="275" r:id="Rc533fc4b11984dad"/>
    <p:sldId xmlns:r="http://schemas.openxmlformats.org/officeDocument/2006/relationships" id="276" r:id="R3d783c3b0b2248bf"/>
    <p:sldId xmlns:r="http://schemas.openxmlformats.org/officeDocument/2006/relationships" id="277" r:id="Rddc6f2a4ea4043b3"/>
    <p:sldId xmlns:r="http://schemas.openxmlformats.org/officeDocument/2006/relationships" id="278" r:id="R27abf0fc31144d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4246da3944e1c" /><Relationship Type="http://schemas.openxmlformats.org/officeDocument/2006/relationships/slideMaster" Target="/ppt/slideMasters/slideMaster1.xml" Id="R047136522a2a4dba" /><Relationship Type="http://schemas.openxmlformats.org/officeDocument/2006/relationships/notesMaster" Target="/ppt/notesMasters/notesMaster1.xml" Id="Reced22e70c7a469e" /><Relationship Type="http://schemas.openxmlformats.org/officeDocument/2006/relationships/presProps" Target="/ppt/presProps.xml" Id="R3cb6cefe7e044328" /><Relationship Type="http://schemas.openxmlformats.org/officeDocument/2006/relationships/tableStyles" Target="/ppt/tableStyles.xml" Id="R712f0b23a0714703" /><Relationship Type="http://schemas.openxmlformats.org/officeDocument/2006/relationships/slide" Target="/ppt/slides/slide1.xml" Id="Ra02563f03f8e46bb" /><Relationship Type="http://schemas.openxmlformats.org/officeDocument/2006/relationships/slide" Target="/ppt/slides/slide2.xml" Id="R5087cf61ac7e4621" /><Relationship Type="http://schemas.openxmlformats.org/officeDocument/2006/relationships/slide" Target="/ppt/slides/slide3.xml" Id="R66984d64a5b34254" /><Relationship Type="http://schemas.openxmlformats.org/officeDocument/2006/relationships/slide" Target="/ppt/slides/slide4.xml" Id="R52625b240dd445d2" /><Relationship Type="http://schemas.openxmlformats.org/officeDocument/2006/relationships/slide" Target="/ppt/slides/slide5.xml" Id="R0052c2bbb4f44344" /><Relationship Type="http://schemas.openxmlformats.org/officeDocument/2006/relationships/slide" Target="/ppt/slides/slide6.xml" Id="R461abe7a900c48c0" /><Relationship Type="http://schemas.openxmlformats.org/officeDocument/2006/relationships/slide" Target="/ppt/slides/slide7.xml" Id="R358452bfc5434d37" /><Relationship Type="http://schemas.openxmlformats.org/officeDocument/2006/relationships/slide" Target="/ppt/slides/slide8.xml" Id="R3876ec1c30284e84" /><Relationship Type="http://schemas.openxmlformats.org/officeDocument/2006/relationships/slide" Target="/ppt/slides/slide9.xml" Id="R0edaafa3d3984fad" /><Relationship Type="http://schemas.openxmlformats.org/officeDocument/2006/relationships/slide" Target="/ppt/slides/slide10.xml" Id="Rcb0e1291b1a44166" /><Relationship Type="http://schemas.openxmlformats.org/officeDocument/2006/relationships/slide" Target="/ppt/slides/slide11.xml" Id="Re6d2c37c344744a3" /><Relationship Type="http://schemas.openxmlformats.org/officeDocument/2006/relationships/slide" Target="/ppt/slides/slide12.xml" Id="Rd1d8e23572ed49bd" /><Relationship Type="http://schemas.openxmlformats.org/officeDocument/2006/relationships/slide" Target="/ppt/slides/slide13.xml" Id="Re0eeb38472fe4213" /><Relationship Type="http://schemas.openxmlformats.org/officeDocument/2006/relationships/slide" Target="/ppt/slides/slide14.xml" Id="Ra2a4f111438c4520" /><Relationship Type="http://schemas.openxmlformats.org/officeDocument/2006/relationships/slide" Target="/ppt/slides/slide15.xml" Id="R13a71d2dde264596" /><Relationship Type="http://schemas.openxmlformats.org/officeDocument/2006/relationships/slide" Target="/ppt/slides/slide16.xml" Id="R74d3e446f6aa47f7" /><Relationship Type="http://schemas.openxmlformats.org/officeDocument/2006/relationships/slide" Target="/ppt/slides/slide17.xml" Id="R7e7f146749b84930" /><Relationship Type="http://schemas.openxmlformats.org/officeDocument/2006/relationships/slide" Target="/ppt/slides/slide18.xml" Id="Rb5e238d092704234" /><Relationship Type="http://schemas.openxmlformats.org/officeDocument/2006/relationships/slide" Target="/ppt/slides/slide19.xml" Id="Re47a70ecb25d42c1" /><Relationship Type="http://schemas.openxmlformats.org/officeDocument/2006/relationships/slide" Target="/ppt/slides/slide20.xml" Id="Rc533fc4b11984dad" /><Relationship Type="http://schemas.openxmlformats.org/officeDocument/2006/relationships/slide" Target="/ppt/slides/slide21.xml" Id="R3d783c3b0b2248bf" /><Relationship Type="http://schemas.openxmlformats.org/officeDocument/2006/relationships/slide" Target="/ppt/slides/slide22.xml" Id="Rddc6f2a4ea4043b3" /><Relationship Type="http://schemas.openxmlformats.org/officeDocument/2006/relationships/slide" Target="/ppt/slides/slide23.xml" Id="R27abf0fc3114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43b0da3fc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8fc7dfda8404c" /><Relationship Type="http://schemas.openxmlformats.org/officeDocument/2006/relationships/notesMaster" Target="/ppt/notesMasters/notesMaster1.xml" Id="R3235f433593b46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51667ac254e1f" /><Relationship Type="http://schemas.openxmlformats.org/officeDocument/2006/relationships/notesMaster" Target="/ppt/notesMasters/notesMaster1.xml" Id="Re0aae0ac22024c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1ed6c85b7b403b" /><Relationship Type="http://schemas.openxmlformats.org/officeDocument/2006/relationships/notesMaster" Target="/ppt/notesMasters/notesMaster1.xml" Id="Rd99b7d243d3e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6d83e8fb045b4" /><Relationship Type="http://schemas.openxmlformats.org/officeDocument/2006/relationships/notesMaster" Target="/ppt/notesMasters/notesMaster1.xml" Id="R6d0328a783714c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effe97eff5482a" /><Relationship Type="http://schemas.openxmlformats.org/officeDocument/2006/relationships/notesMaster" Target="/ppt/notesMasters/notesMaster1.xml" Id="R281e278f4f504d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95c2ac8edf4f79" /><Relationship Type="http://schemas.openxmlformats.org/officeDocument/2006/relationships/notesMaster" Target="/ppt/notesMasters/notesMaster1.xml" Id="Rd3315ef039af47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b1ac063b7c4958" /><Relationship Type="http://schemas.openxmlformats.org/officeDocument/2006/relationships/notesMaster" Target="/ppt/notesMasters/notesMaster1.xml" Id="R2a4fa33a73e442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df119b528342de" /><Relationship Type="http://schemas.openxmlformats.org/officeDocument/2006/relationships/notesMaster" Target="/ppt/notesMasters/notesMaster1.xml" Id="Rb6ade9dda351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765400bf9343c9" /><Relationship Type="http://schemas.openxmlformats.org/officeDocument/2006/relationships/notesMaster" Target="/ppt/notesMasters/notesMaster1.xml" Id="R18775b0a3a3c45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cdc8fbf8244cb4" /><Relationship Type="http://schemas.openxmlformats.org/officeDocument/2006/relationships/notesMaster" Target="/ppt/notesMasters/notesMaster1.xml" Id="Rb3f7aff5ea3a49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b0ad5c94924675" /><Relationship Type="http://schemas.openxmlformats.org/officeDocument/2006/relationships/notesMaster" Target="/ppt/notesMasters/notesMaster1.xml" Id="R4f03adaf997d4a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0076f14084ba0" /><Relationship Type="http://schemas.openxmlformats.org/officeDocument/2006/relationships/notesMaster" Target="/ppt/notesMasters/notesMaster1.xml" Id="Re18075f5e6584e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989757eb294717" /><Relationship Type="http://schemas.openxmlformats.org/officeDocument/2006/relationships/notesMaster" Target="/ppt/notesMasters/notesMaster1.xml" Id="Rdb09622563de4f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425825d5b24aec" /><Relationship Type="http://schemas.openxmlformats.org/officeDocument/2006/relationships/notesMaster" Target="/ppt/notesMasters/notesMaster1.xml" Id="R3c791880634744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94074daca34e5c" /><Relationship Type="http://schemas.openxmlformats.org/officeDocument/2006/relationships/notesMaster" Target="/ppt/notesMasters/notesMaster1.xml" Id="Ra1c597abf4104e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b747f50b154d4b" /><Relationship Type="http://schemas.openxmlformats.org/officeDocument/2006/relationships/notesMaster" Target="/ppt/notesMasters/notesMaster1.xml" Id="R2501132e987a47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8dda9ff448430b" /><Relationship Type="http://schemas.openxmlformats.org/officeDocument/2006/relationships/notesMaster" Target="/ppt/notesMasters/notesMaster1.xml" Id="Raa4df988009949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300c2fe1d64421" /><Relationship Type="http://schemas.openxmlformats.org/officeDocument/2006/relationships/notesMaster" Target="/ppt/notesMasters/notesMaster1.xml" Id="R11260cd2b94349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9d46f7d8de4dd4" /><Relationship Type="http://schemas.openxmlformats.org/officeDocument/2006/relationships/notesMaster" Target="/ppt/notesMasters/notesMaster1.xml" Id="R1a8c7db27d5347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78f7c5670447bc" /><Relationship Type="http://schemas.openxmlformats.org/officeDocument/2006/relationships/notesMaster" Target="/ppt/notesMasters/notesMaster1.xml" Id="Rf8fecfadacc040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29c504cff24e4d" /><Relationship Type="http://schemas.openxmlformats.org/officeDocument/2006/relationships/notesMaster" Target="/ppt/notesMasters/notesMaster1.xml" Id="R5eabdd64bae345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67a16f454f47f2" /><Relationship Type="http://schemas.openxmlformats.org/officeDocument/2006/relationships/notesMaster" Target="/ppt/notesMasters/notesMaster1.xml" Id="R5becf2ca62b241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549e7d9f254d15" /><Relationship Type="http://schemas.openxmlformats.org/officeDocument/2006/relationships/notesMaster" Target="/ppt/notesMasters/notesMaster1.xml" Id="R6dde20f2476e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 EEG文章筛选.xlsx；C:/Users/ROG/Desktop/LEAD 本地代码。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来源：EEG文章筛选.xlsx，“识别方法总结”和“特定疾病内容”。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来源：LEAD 论文 https://arxiv.org/abs/2502.01678 与代码 https://github.com/DL4mHealth/LEAD；LaBraM 论文 https://openreview.net/forum?id=QzTpTRVtrP。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图片来源：C:/Users/ROG/Desktop/LEAD/figs/lead_pipeline.png。技术依据：LEAD/README.md。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图片来源：C:/Users/ROG/Desktop/LEAD/figs/lead_details.png。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数据集候选来源：EEG文章筛选.xlsx；LEAD-main/README.md。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来源：EEG文章筛选.xlsx，“识别区域”和“特定疾病内容”。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来源：C:/Users/ROG/Desktop/LEAD/results/LEADv2/finetune/LEADv2/P-Base-F-APAVA-Multi/results.txt；本地运行环境记录。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来源：正式 APAVA 运行日志与 results.txt。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数据来源：C:/Users/ROG/Desktop/LEAD/results/LEADv2/finetune/LEADv2/P-Base-F-APAVA-Multi/results.txt。单位：%。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来源：本地正式复现 results.txt。五次随机种子为 41–45。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解释基于 APAVA 固定划分：训练 15 人、验证 4 人、测试 4 人。受试者指标由多数投票得到。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来源：本项目方法学综合。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aa0c929d048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e3009120245ea" /><Relationship Type="http://schemas.openxmlformats.org/officeDocument/2006/relationships/slideLayout" Target="/ppt/slideLayouts/slideLayout1.xml" Id="R2b539ab59d4b4a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539ab59d4b4a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d9a4c97964423" /><Relationship Type="http://schemas.openxmlformats.org/officeDocument/2006/relationships/notesSlide" Target="/ppt/notesSlides/notesSlide1.xml" Id="R7e361c0f2f71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4ec178dbb4c94" /><Relationship Type="http://schemas.openxmlformats.org/officeDocument/2006/relationships/notesSlide" Target="/ppt/notesSlides/notesSlide2.xml" Id="R4d2603dbd707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a5db24344f1e" /><Relationship Type="http://schemas.openxmlformats.org/officeDocument/2006/relationships/notesSlide" Target="/ppt/notesSlides/notesSlide3.xml" Id="R28fc7b9ea76646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ff7115fb4406b" /><Relationship Type="http://schemas.openxmlformats.org/officeDocument/2006/relationships/notesSlide" Target="/ppt/notesSlides/notesSlide4.xml" Id="R02c88c43927c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fd6c33c264602" /><Relationship Type="http://schemas.openxmlformats.org/officeDocument/2006/relationships/image" Target="/ppt/media/image.png" Id="R8e0b8b0150764447" /><Relationship Type="http://schemas.openxmlformats.org/officeDocument/2006/relationships/notesSlide" Target="/ppt/notesSlides/notesSlide5.xml" Id="R11f2c70efc03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46334980c465f" /><Relationship Type="http://schemas.openxmlformats.org/officeDocument/2006/relationships/image" Target="/ppt/media/image2.png" Id="R469c1a40b6e34a75" /><Relationship Type="http://schemas.openxmlformats.org/officeDocument/2006/relationships/notesSlide" Target="/ppt/notesSlides/notesSlide6.xml" Id="R34e67f9e763f40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02ee5960d4e33" /><Relationship Type="http://schemas.openxmlformats.org/officeDocument/2006/relationships/notesSlide" Target="/ppt/notesSlides/notesSlide7.xml" Id="R40e1b2b993c7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88c269cf440bb" /><Relationship Type="http://schemas.openxmlformats.org/officeDocument/2006/relationships/notesSlide" Target="/ppt/notesSlides/notesSlide8.xml" Id="Reec9ea22753241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c508b19794ccb" /><Relationship Type="http://schemas.openxmlformats.org/officeDocument/2006/relationships/notesSlide" Target="/ppt/notesSlides/notesSlide9.xml" Id="R21a517bd765d4b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68f98950d4f46" /><Relationship Type="http://schemas.openxmlformats.org/officeDocument/2006/relationships/notesSlide" Target="/ppt/notesSlides/notesSlide10.xml" Id="R53edb78b008a4e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0c00bb517461b" /><Relationship Type="http://schemas.openxmlformats.org/officeDocument/2006/relationships/notesSlide" Target="/ppt/notesSlides/notesSlide11.xml" Id="Rf0bf68d2a63d40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8b502c17144b0" /><Relationship Type="http://schemas.openxmlformats.org/officeDocument/2006/relationships/notesSlide" Target="/ppt/notesSlides/notesSlide12.xml" Id="R729b55c9d8f848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10e1d1d244e8" /><Relationship Type="http://schemas.openxmlformats.org/officeDocument/2006/relationships/notesSlide" Target="/ppt/notesSlides/notesSlide13.xml" Id="Ra4ebd8c58f9347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bddd6ad24b89" /><Relationship Type="http://schemas.openxmlformats.org/officeDocument/2006/relationships/notesSlide" Target="/ppt/notesSlides/notesSlide14.xml" Id="R40c6ebe4d75742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6dd95cb449ef" /><Relationship Type="http://schemas.openxmlformats.org/officeDocument/2006/relationships/notesSlide" Target="/ppt/notesSlides/notesSlide15.xml" Id="Re76caf61533840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0c7776aeb4717" /><Relationship Type="http://schemas.openxmlformats.org/officeDocument/2006/relationships/notesSlide" Target="/ppt/notesSlides/notesSlide16.xml" Id="R8094aaa3759e42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69398a6554233" /><Relationship Type="http://schemas.openxmlformats.org/officeDocument/2006/relationships/notesSlide" Target="/ppt/notesSlides/notesSlide17.xml" Id="R69f6b232c82944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3fe38235a413d" /><Relationship Type="http://schemas.openxmlformats.org/officeDocument/2006/relationships/notesSlide" Target="/ppt/notesSlides/notesSlide18.xml" Id="Rce9a975bc28642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c60fde626489e" /><Relationship Type="http://schemas.openxmlformats.org/officeDocument/2006/relationships/notesSlide" Target="/ppt/notesSlides/notesSlide19.xml" Id="R7312e9491cb84a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b3fa24e5c40f6" /><Relationship Type="http://schemas.openxmlformats.org/officeDocument/2006/relationships/notesSlide" Target="/ppt/notesSlides/notesSlide20.xml" Id="R523eb93ba0af46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b0a49161f45e8" /><Relationship Type="http://schemas.openxmlformats.org/officeDocument/2006/relationships/notesSlide" Target="/ppt/notesSlides/notesSlide21.xml" Id="R3d52790519ef4a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e185e97be40fb" /><Relationship Type="http://schemas.openxmlformats.org/officeDocument/2006/relationships/notesSlide" Target="/ppt/notesSlides/notesSlide22.xml" Id="R4f4b2dab1b3145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c3877869e4ff3" /><Relationship Type="http://schemas.openxmlformats.org/officeDocument/2006/relationships/notesSlide" Target="/ppt/notesSlides/notesSlide23.xml" Id="R247443b0220646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65E0-9F47-4779-8730-2AB7072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LEADv2 的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多疾病 EEG 关键因素筛选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72D37-1730-49F0-9C45-B576C60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电极 × 频段 × 特征的稳定分类贡献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DEE64-E1FC-4AFE-8BD3-1369114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00125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D5EDF-3931-4A3C-9122-3C19A6C9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研究核心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3564B-EF0B-49E3-957B-69F62B81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90700"/>
            <a:ext cx="2333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相同时段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只是统一输入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关键结论来自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跨被试消融与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稳定性验证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73DF6-3B47-4FA2-804A-9DBE9B26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ED0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ED0DC"/>
                </a:solidFill>
                <a:latin typeface="Microsoft YaHei"/>
                <a:ea typeface="Microsoft YaHei"/>
                <a:cs typeface="Microsoft YaHei"/>
              </a:rPr>
              <a:t>基于 EEG文章筛选.xlsx 与本地代码审查</a:t>
            </a:r>
          </a:p>
        </p:txBody>
      </p:sp>
    </p:spTree>
    <p:extLst>
      <p:ext uri="{BB962C8B-B14F-4D97-AF65-F5344CB8AC3E}">
        <p14:creationId xmlns:p14="http://schemas.microsoft.com/office/powerpoint/2010/main" val="1153077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ADEFD-4E10-4B66-9960-19D5CD51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研究起点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8B8C9-EF28-4F34-B840-FB92D869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论文中的共性现象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192DB-0839-49E8-8F0C-BE9BBAAC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D9E6C-AD6F-4D4B-869B-C4263EAB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多篇论文反复选择相似的 EEG 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BAA91-F248-4734-8CEA-8D1A1B9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1937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FA008-26BE-486D-8087-1EE72D49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574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静息态 EO / 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96B72-4C56-40B2-BEB1-4E8E734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AF5BB-CA97-479B-BC7C-B9A1F0D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64BEB-7B37-4177-BDB2-93484DB2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147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2–12 s 切窗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F9182-2315-4FF8-B679-279BF552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1624C-8101-4D5B-ADDE-335BA27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6E367-6F6F-48ED-8D1B-C75BA387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719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8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19 / 31 / 32 / 64 导联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F10A1-2E24-4D02-8C2D-3840F544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A5EB8-D2D2-4216-9404-6A1FAA6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这些共性便于比较，但它们并不能直接证明哪个因素决定分类。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9980F-B68B-41E7-AF5F-4525833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7173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F657B-DED7-47BF-BDC2-48072857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15EB3-B4CD-4F7D-8015-082C4C76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从“重复使用”到“不可替代贡献”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F8E04-3A7A-4173-B28C-6D7E894D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6D7A4-0869-43B0-A1EB-10F1371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电极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DFEAA-DFFE-41C0-84E5-211A2A2D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3A56D-2BE4-4F6E-B65F-06ACCA0E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遮挡单电极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对称电极对和脑区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B4B75-F74B-4982-9031-DE7D5C4B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频段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D61F8-7892-4AD5-964D-02DE95FC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39F9D-1F64-4121-97EB-A807F9E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单频段性能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删除频段后性能下降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7043B-618C-44E1-B577-FA19DD95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274C8-FE28-47A4-BF26-2968D037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0D72B-4445-4AAC-8E63-AEC00A1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embedding 与频谱</a:t>
            </a:r>
          </a:p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连接与复杂度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582CF-FAF5-4D8D-8658-BC90C6AB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只有在不同被试折、随机种子和独立数据集上重现，才称为稳定关键因素。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0761F-FACF-47AE-B618-4ECA0F27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7896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0C1E8-74B6-4CB5-9309-47771B7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预训练模型对比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FBB89-83AA-4490-9F21-F410732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LEADv2 与 LaBraM 的任务适配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6CD04-F80C-4340-A9B4-129719B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81500"/>
                <a:gridCol w="4381500"/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LEADv2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LaBraM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原始定位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EEG 疾病识别，重点为 AD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通用 EEG / BCI 表征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预训练思路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样本级与受试者级对比学习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tokenizer 与遮挡建模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异构输入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通道位置和采样率嵌入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需更严格对齐输入规范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受试者评估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原生损失与多数投票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需额外增加聚合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现有工程基础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P-Base、疾病加载器、通道遮挡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需重建多疾病消融流程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本项目角色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主模型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</a:rPr>
                        <a:t>跨模型稳定性对照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693A5-49B3-40FC-A3C0-FAC9FF7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选择 LEADv2 完成主实验，LaBraM 用于检查频段和电极排名是否依赖特定模型。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54624-5611-420D-A6C7-97752C6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6127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7F2C4-83E9-4C6B-A685-E141C63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主模型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55D09-CD70-4C5A-A628-4F9813B8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选择 LEADv2 的技术依据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857CE-E838-4396-A66F-00D97A5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b8b0150764447"/>
          <a:stretch xmlns:a="http://schemas.openxmlformats.org/drawingml/2006/main"/>
        </p:blipFill>
        <p:spPr>
          <a:xfrm xmlns:a="http://schemas.openxmlformats.org/drawingml/2006/main">
            <a:off x="666750" y="2238032"/>
            <a:ext cx="6858000" cy="276293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8B5FE-C30C-4048-916F-59FFE12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52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头皮 EEG 预训练域与项目一致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支持不同通道拓扑和采样率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生成电极级表示，便于遮挡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受试者级学习符合诊断单位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A846C-92E3-4CA0-B83B-A279294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现有加载器已覆盖 AD、FTD、SZ 和 Depression 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5DB5C-42DF-4234-A77A-7E8BD0B9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8466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D6654-CB0D-4635-886E-33E7FBA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模型定位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466CF-9361-49DA-8EAA-B5496EF0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LEADv2 与本任务的结合点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7456D-BEF9-4998-AAED-1C3BDB4A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1a40b6e34a75"/>
          <a:stretch xmlns:a="http://schemas.openxmlformats.org/drawingml/2006/main"/>
        </p:blipFill>
        <p:spPr>
          <a:xfrm xmlns:a="http://schemas.openxmlformats.org/drawingml/2006/main">
            <a:off x="666750" y="1688808"/>
            <a:ext cx="7334250" cy="395663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C61F1-1C7F-4B66-AA40-EAF77A1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原模型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D8EBC-1B4A-4BD1-A229-2128CF3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098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时间与通道联合编码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受试者级分类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D25FF-DC2A-445F-A5AE-A5839D71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本项目新增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0F824-3C9E-4779-919C-97E27FD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频段分支与 band embedding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频段门控与删除消融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电极和特征稳定性排名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BED95-495E-45C8-A7E9-9BFE09F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8376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234C5-8356-4E35-B8AB-5BC278B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数据设计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EEB30-18A1-4DDD-9731-C81B4632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多疾病任务的合理范围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11CFC-F366-41EA-9656-1555BC49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000500"/>
              </a:tblGrid>
              <a:tr h="508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疾病任务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首选数据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使用方式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AD vs HC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ADFTD / APAVA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主任务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MDD vs HC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Mumtaz / Depression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主任务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SZ vs HC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ADSZ / ASEEG / RepOD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主任务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跨诊断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TDBRAIN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后续扩展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ADHD / ASD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儿童或任务态数据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暂不与成人静息态混合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571FB-18D6-49F8-8331-F978AACB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跨数据集首版采用共享 encoder + 疾病独立头，降低设备和中心差异的混杂。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C9C5B-5AA5-4E01-BB63-9489CE72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7492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E3D73-2004-4A59-AE98-10E4B63A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方法控制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FA321-C6D3-4620-B295-899AF1A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统一输入和预处理边界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993E-08BB-4B01-9CA6-B1AC59ED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5D2DB-1E1B-43D3-8B91-FFEC9CB6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90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9303F-B521-435A-B75F-FC1FF51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按被试划分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D870A-FAE3-4888-9690-468E4A0D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EE994-5971-4F1C-A662-345881FA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81250"/>
            <a:ext cx="190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B3BB-F490-4768-BDF8-B2BC56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76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连续信号滤波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596B2-9211-430C-9A8B-674A81D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AFE13-DC66-4795-A55A-69E2B2E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81250"/>
            <a:ext cx="190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8B681-2EEE-4BC5-B734-22E219BD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76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切分 4 s / 8 s 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3B6EF-2417-4AE8-A43D-C9EBD776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05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A56D1-94BC-426D-AACF-17EAE69C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81250"/>
            <a:ext cx="190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7897B-5742-48DC-98CB-55F58D2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476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通道对齐与标准化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200B9-CBC5-4041-90E6-E9FAE73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050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1BA4-97D8-4EBB-B4C9-8DD62002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81250"/>
            <a:ext cx="190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B8A49-F7AE-4A6B-A035-06F7157C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76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输入 LEADv2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9A7CD-7413-4ECE-B1CB-FE6A169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EO 和 EC 分开报告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任务态不与静息态直接混合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低频 delta 优先使用 8 s 窗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同一比较保持被试划分不变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15A09-F66B-4A54-ABD0-142F430C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5193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B04E1-3E14-4075-AF04-1F779F4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频段定义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DE4FD-A78A-4D3A-AB68-C5458B17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五个主频段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5447C-501B-4481-A2B7-7510E792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09017-B2D8-41DF-869A-C63121F9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D0902-6306-4DFF-B1E2-94FF272A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63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24D2A-6366-40D1-8C95-CAD62D52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6C6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6C63A8"/>
                </a:solidFill>
                <a:latin typeface="Microsoft YaHei"/>
                <a:ea typeface="Microsoft YaHei"/>
                <a:cs typeface="Microsoft YaHei"/>
              </a:rPr>
              <a:t>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DE3F6-077B-40BE-A729-2C4731FE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0.5–4 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BF0A9-BD3E-4757-BD32-3BA4DEC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4021F-BDCB-461B-8051-8086450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47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7B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10A0C-8C13-4BB5-BD32-98A4DFF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526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398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3987B8"/>
                </a:solidFill>
                <a:latin typeface="Microsoft YaHei"/>
                <a:ea typeface="Microsoft YaHei"/>
                <a:cs typeface="Microsoft YaHei"/>
              </a:rPr>
              <a:t>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AEBFB-3A2E-4D40-AD33-C3CBAE7A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43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4–8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F87E4-37E0-4B04-B6FC-EBE860F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D9E35-D056-42A8-A086-8FCB224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47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8E5E1-30C5-405E-858F-82B62EA8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3526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B31BC-25FB-49E0-B22A-AA45137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143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8–13 Hz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DA686-57E3-4515-BFA3-21380375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12BF3-61AB-4118-9326-1A2BB59C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47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8984D-87E6-46F6-95F2-D365FF3E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3526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6D794-A25A-4CB5-BA29-4B8D2DC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43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13–30 Hz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1D698-4E73-4DA9-9C02-91C2EDB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47875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80122-04FC-4399-878F-4799C31E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47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A5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FAAF3-6903-4E86-96D4-F57B451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526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D56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D56A55"/>
                </a:solidFill>
                <a:latin typeface="Microsoft YaHei"/>
                <a:ea typeface="Microsoft YaHei"/>
                <a:cs typeface="Microsoft YaHei"/>
              </a:rPr>
              <a:t>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2C3FF-98CF-4F80-958A-402272F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43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30–45 Hz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EC1E5-57A6-44DA-BD4C-B9ABE18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频段边界固定，比较时只更改输入频段。完成主实验后再细分 α1/α2 和 β1/β2。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51DE4-9A25-4284-90DD-9C50994F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921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8F63E-2769-4173-8F33-EFEE49E7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文献引导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3A8D6-05C7-45BC-98A3-D0CB5C29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电极与特征候选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7B9A-9C9E-47AE-9DDB-76388B1B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38BC-77FB-49DB-8560-39AEDD7E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电极 / 脑区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67C0E-DE2D-4365-95B5-31EDB574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特征族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0BED5-345C-40A0-9136-7AD4ED2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MDD：全脑 19 导联为起点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验证 Fp1/Fp2 与额叶不对称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SZ：额叶—顶叶网络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遮挡层级：单电极、电极对、脑区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A9E0C-44BE-4D5C-A2F1-5AEFEA3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LEADv2 embedding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Welch PSD 与相对功率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PLV 与 CSD 后 PSI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LZC 与样本熵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169A1-DE2D-481A-8147-9FB4A98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E6571-379D-4702-8334-D85D3585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文献只用来生成候选，不预先指定“决定性电极”。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27966-E3B9-47F9-87D5-7F5901E6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35939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6F2FE-F946-439A-804C-3300C07B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9783-9CDA-4EC3-9A49-190674C7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阶段 A：单频段的独立判别力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32712-D848-42C6-9A77-0FE2D28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722D3-80CD-4C59-8552-47AA459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Broadband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82EC4-C907-402F-B5A6-D72D1D9B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26177-E51D-4CD7-BB0A-6EF8BDF1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25843-4911-4961-981D-C229E223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99195-266F-4ADC-A9F3-24918D27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053A7-3DB0-40D0-9A21-35C517BC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CDBB2-C8B9-4A04-9510-926A89F6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B1D0C-C004-444F-A1DF-C40ADCBB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8595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A2F22-21EC-4560-B724-3C2BBF5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850CF-EDBB-4DBB-ADE7-27395AC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0ED4D-2D7A-4BEA-93EC-2EFA01E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8C1D4-D51A-4E89-AB4D-10B6D40E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47421-5D91-461E-9C5E-1DD4B68F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同一被试划分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099E3-A051-4AB0-90B0-4D753ED9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相同 fold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相同随机种子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72FA2-1DE1-49B6-9EB2-EDBAA56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同一模型设定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0AA92-9433-41A9-83DD-E5082C3F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相同 P-Base 权重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相同优化器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D93FF-0938-4C0E-AC6F-B23DC55A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两步微调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E2497-1387-4284-80AB-FA8C683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冻结线性探测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小学习率微调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F7FF3-0FBA-4BBB-A7F2-DA71577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81625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输出：每个疾病的 band-only 性能排名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D1F29-A686-47A3-BF2E-B099735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9530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A9FEB-A1F4-49F5-B449-433ED3E8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C5A0-12F7-486B-BF00-CCE5D267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阶段 B：删除消融衡量不可替代性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C9435-E130-4554-96F5-CD86E472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D2E5B-7793-4D04-BAF4-F0A34877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381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4AC26-95C4-4336-9408-E58FF0FC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D4F7F-FE7C-4DCA-BF18-BF94631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47875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D92CD-F1A2-4EE4-BC56-20FA707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859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No-δ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7D2EF-14DF-4551-8FBA-D06EBE2C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11A88-1131-42BB-A2BF-35FB0B9C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859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No-θ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40E8-2128-404A-9D3D-C2A62BEB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EC13-66D3-41D5-A9E4-A863A199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859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No-α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35547-7A93-4A0B-83C7-5B8CE8C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4E027-C7FC-43B1-B14D-B391FF66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859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No-β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97FCE-E754-460A-AC08-5233060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8D4C4-7EF1-4D36-8D24-F7ABB2D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859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No-γ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3D2FB-708C-4A5D-8CC2-CD0D209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频段贡献 = Full 的 subject-level score − 删除后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7C02C-23ED-405F-9014-54C5E43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同样方法用于单电极、电极对、脑区和特征族。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54E97-B786-4CFE-99B0-7547C80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消融为主证据，Integrated Gradients / SHAP 为辅，attention 和 gate 权重只作描述。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75B42-7061-4F9A-90A0-72DCFA7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5990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B0A20-E169-4226-91C6-03A1E95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模型扩展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8E42D-A9EA-40B6-816F-5F7063B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MultiBand-LEADv2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82889-CA2C-4D67-AD27-15FB236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E1FF8-5040-4DB0-8438-562C2C95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D44F6-2B52-4A32-B84B-8382C28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A997F-EB47-44AD-8E54-3C92156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669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2347-813C-4048-BE74-7AA8020B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613E5-7653-48CB-8D4C-5FB401A3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DB599-3582-411D-A65C-E85A3B91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622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90E53-4E6B-41A8-8321-E00986C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5B989-29D9-4382-9903-FEE16649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44062-627C-49E3-AA47-EC2371D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575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5B73F-8830-469A-849E-912F42FF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6A396-89DD-411E-B3EB-AE02FF9A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2EFE2-60A7-4D19-AE4B-8B1E3E08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C7A07-DD22-43E2-940D-3FFC9DC6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757EC-67E3-43DA-99A7-A7BC55B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5C34A-073A-433D-B356-B9DBE701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482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1F5FF-0784-4D95-A5DC-DEC34AEA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9D3DC-4E57-417C-9884-B6C6DE67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69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共享</a:t>
            </a:r>
          </a:p>
          <a:p xmlns:a="http://schemas.openxmlformats.org/drawingml/2006/main">
            <a:pPr algn="ctr">
              <a:defRPr sz="21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LEADv2 encoder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5AB6D-F14D-408B-B3FC-1709E4B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FBBED-DB17-4DAA-AA9B-296305D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39356-DC64-421A-B356-48BD3BD0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09875"/>
            <a:ext cx="1666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4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band embedding</a:t>
            </a:r>
          </a:p>
          <a:p xmlns:a="http://schemas.openxmlformats.org/drawingml/2006/main">
            <a:pPr algn="ctr">
              <a:def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def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稀疏频段门控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27D11-CFCF-4E1B-8BCD-0F010C32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85C0F-8B8A-4CC2-A7F2-7891E322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1D4C37-6ECC-4B7A-967C-BF20498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AD head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30CDD-7A5D-43B6-9456-F0D9802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67075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52B47-5847-4CED-A11C-03F99BC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432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MDD head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0A37F-618D-43AE-B96C-6B5E44FD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22EFE-1DF5-41D3-AC51-922350ED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SZ head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3BD40E-8B67-488F-8B89-007CE257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五个频段共享 encoder，避免参数量扩大五倍。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6B877-857D-4C0E-A74A-0ED6D71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55023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768ED-49A6-4E9F-8DC8-9E186A1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942BF-19FA-40DB-AD79-EFC5E9EB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稳定关键因素的判定标准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22618-F195-4E6F-9CBB-7DBEDD41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285875" y="1714500"/>
          <a:ext xmlns:a="http://schemas.openxmlformats.org/drawingml/2006/main" cx="9620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695325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报告内容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性能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subject-level balanced accuracy、macro-F1、AUROC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配对消融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Full score 与 ablated score 的差值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不确定性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95% bootstrap 置信区间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可重现性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跨折排名、跨种子入选频率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外部性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独立数据集上的排名一致性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2E32-5685-4AB9-BE1E-B543E974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同时具有单频段高性能和删除后大幅下降，才支持“关键频段”结论。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74BE5-C67E-45C2-AF35-F50BFFA7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23137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004D5-1DE7-4688-AE80-60CAEA3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09A3A-9257-458F-91E4-17BDE3B2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LEADv2 基线复现配置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97D00-B7A1-4DE9-8BEC-DC932691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00125" y="1619250"/>
          <a:ext xmlns:a="http://schemas.openxmlformats.org/drawingml/2006/main" cx="10191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7715250"/>
              </a:tblGrid>
              <a:tr h="531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本次设置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任务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APAVA：AD vs HC 二分类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环境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Python 3.10，PyTorch 2.11 + CUDA 12.8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硬件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NVIDIA RTX 5060 Laptop GPU，单卡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P-Base 预训练权重，LEADv2 12 层编码器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</a:rPr>
                        <a:t>固定受试者划分，5 个随机种子，最多 200 轮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EB3FD-BC3B-468A-A7B8-E44CB31D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正式实验已生成 seed 41–45 的五个 checkpoint 和汇总结果。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27704-4CF9-4815-8C60-E9F857C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46859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574A3-0FB7-4CFA-94E5-2497BEC8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6F8F0-5718-4882-81E1-6C8F3A63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基线复现的数据流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D7D49-92F6-4E4C-A79D-AA8A6B6F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7A173-C50A-4294-A3B7-BEACF6B6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B44B8-DB6C-4938-BE3A-AF804634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3837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5925F-8B8D-40FE-9AFC-A8AC37C3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4795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APAVA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16 通道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F888D-A855-4FC2-906A-AFC233C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F6E94-9687-4F50-A456-0821B58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95500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8A970-ECC9-48FD-AABF-EEB6E68C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3837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0EBEE-B34A-4815-9AC3-2A78B085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4795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15 训练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 验证 / 4 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9A0DE-7292-403B-BF56-2747D6C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8FF4B-A7A9-4A79-944C-0A6FCA82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95500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64CCC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4733F-CFE9-41B2-B4EB-B44B78E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3837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842C-BBD1-490B-B97D-3A3EEA82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4795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载入 P-Base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替换分类头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7442A-266C-4FB3-BFD6-F73ADCB4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CDFD7-0193-4CFF-B716-F920CEB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95500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EEE50-B570-46D9-A69F-E38C7906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微调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70015-92E1-4259-9295-BED5DA3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4795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受试者损失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SWA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736AA-918E-4471-A8FD-CB5F94C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8FC05-72EE-4421-B9A7-5A6E3FB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95500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AD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FBF5F-4BA5-4269-A564-FBD19AD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3837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FAB99-FC0D-44B5-8C5D-705E6866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47950"/>
            <a:ext cx="1724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片段指标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受试者投票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21E46-F6B2-4BB0-8010-97E6C11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训练集 4,858 个片段，验证集 2,198 个片段，测试集 2,226 个片段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AFB62-CDF8-41BF-8E46-38F4CA7B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0062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受试者先划分，片段不会跨越训练、验证和测试集合。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3C5DE-681A-47D2-A994-E87EC82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466232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1A97F-FF12-4E70-BFFA-2344E502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复现结果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CB369-C015-4E42-A6CC-54AA8776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五次运行的测试准确率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3544F-074D-4DA6-8FA7-AAC9BE2C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2095500"/>
          <a:ext xmlns:a="http://schemas.openxmlformats.org/drawingml/2006/main" cx="1114425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752600"/>
                <a:gridCol w="1752600"/>
                <a:gridCol w="1752600"/>
                <a:gridCol w="1752600"/>
                <a:gridCol w="1752600"/>
              </a:tblGrid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Seed 41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Seed 42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Seed 43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Seed 44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Seed 45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片段级 Accuracy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74.30%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83.56%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84.19%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86.97%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86.16%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受试者级 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1FC96-E888-4DF4-A7AF-271CA5C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768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片段级结果较稳定；受试者级结果受 4 人测试集影响，只会以 25 个百分点变化。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6ED06-30DE-4C57-91C2-9351AC15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334559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1A21C-B9CA-49C4-9ECC-2FCF1D7E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复现结果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FAF88-F9C9-49FC-AEFA-800258E5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APAVA 正式复现结果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10E7D-611B-4E4A-B8BC-55077F9D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333625"/>
                <a:gridCol w="2333625"/>
                <a:gridCol w="2333625"/>
                <a:gridCol w="2333625"/>
              </a:tblGrid>
              <a:tr h="603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测试层级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 marL="91440" marR="91440" marT="45720" marB="45720">
                    <a:solidFill>
                      <a:srgbClr val="11263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片段级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83.04 ± 4.54%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82.42 ± 4.41%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91.90 ± 4.21%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91.62 ± 4.68%</a:t>
                      </a:r>
                    </a:p>
                  </a:txBody>
                  <a:tcPr marL="91440" marR="91440" marT="45720" marB="45720">
                    <a:solidFill>
                      <a:srgbClr val="EAF7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受试者级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90.00 ± 12.25%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89.33 ± 13.06%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90.00 ± 12.25%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86.67 ± 16.33%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74751-617F-4D3D-B987-2999A1B2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片段级 AUROC 91.90% 表明模型具有较强区分能力。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CE258-FDE5-45A9-A804-515152C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正式报告使用 5 次均值 ± 标准差，不选取单次最佳结果。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5389C-E51F-41FE-975B-96E130C9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485955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B13BE-B3E0-4F93-A004-5E1B156B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复现结果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86BA3-2289-41C2-AA6C-BDEF09C9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基线结果的解释边界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99DA-54D6-436A-92EC-607BB88F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51306-3EE5-4440-8FCA-B878861D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可以支持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B7F39-4426-46A5-9730-E9319700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619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代码、权重、数据与训练链路已跑通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P-Base 能迁移到 APAVA 二分类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全频段基线可用于后续配对消融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C713E-F39A-4305-8F6C-4FCD18A4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仍需谨慎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45C13-5724-4966-B9FC-91E1EDE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测试集每次只有 4 名受试者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受试者准确率 75% 或 100% 呈离散跳变</a:t>
            </a:r>
          </a:p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 单一 AD 数据集不能支持跨疾病结论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32279-2EA2-438A-9A18-8D9B679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46D43-C982-4484-9DED-661A766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后续频段实验以片段级 AUROC 91.90% 和受试者级 Accuracy 90.00% 为全频基线。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1313D-684F-40DA-ADF1-0864A73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230563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8B563-25C1-408C-80FB-527456D6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执行路线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4CDAF-0CF6-4D1B-89B2-C18BF9C2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研究阶段：前期准备与核心筛选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E8F6D-8D7A-4A6E-BDFE-29668BF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51286-44B8-45E2-A37E-60F4983C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6278B-969B-47D3-B1FA-8A33054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34D1B-3392-4125-BEAC-F8F18B86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6E34E-9B90-4DD3-97BF-EE76BC3B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86125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固定 LEADv2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确定 AD、MDD、SZ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FE948-CB07-4B1A-906A-8F1690FC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5FF8A-1DAF-45DA-BEA9-92EA1F36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DC0D-56E2-4CD6-B713-C4BE12F3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66FC4-58ED-4B7B-A92E-13830B70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数据标准化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4DB50-EC4F-4AC1-8E96-B8168BEA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86125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统一导联与采样率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按受试者划分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9B82D-BD71-4453-9DA9-2FBEC9B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87BF4-3C90-45C1-837B-2FE634C4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46AB0-C32E-41E4-A4B6-4F8F81F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A93BB-C80A-455E-937E-D8EE175F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基线建立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19C3B-CF01-4F7F-BC21-594645E6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86125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冻结线性探测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再微调 LEADv2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64442-577D-4405-8B71-4D70C97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D7240-84A1-4BB4-A713-4C88A3D0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45808-68FE-437B-8FC0-046720DE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09F57-B908-4805-8AE3-478A203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频段筛选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76E1A-FE5E-480F-8DA8-ED19479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86125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单频段分类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逐一删除频段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BA31B-940B-4EFC-93E9-0A422C7A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782B0-C45F-460D-93E2-50C91A7E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DDC30-7D77-4EC6-926A-CCA62E4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79B78-5EFB-48D4-90C3-3468B47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电极筛选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8890CC-9E70-497F-8BBF-904693E8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86125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单电极、电极对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与脑区遮挡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23E25-2A1B-44CF-B106-DC92E9D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前五个阶段先建立可信基线，再判断频段和电极的不可替代贡献。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65ECC-8068-422C-9BE3-F64515E1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756533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9E8B3F-406D-4007-97B4-D70EC1F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执行路线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96CB6-E12A-44A8-810A-32D7F471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研究阶段：联合分析与结果验证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5C98-987E-4EE9-B435-9FC2664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49799-4256-44F3-91B5-C8E505A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8C256-63F6-427D-B1F5-3A3F262D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EBB98-60DA-430D-A138-3FD06B7D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特征对比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9F23-51A6-4A19-91AF-D394FC7A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86125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LEADv2 embedding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与传统特征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6616D-9ED8-40E0-A00D-42643120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3BAA2-248A-4A7B-B1B9-A2CD694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11598-0757-4F54-A682-850C4174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5115F-AFD3-4E77-AD17-7FF89C5F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联合分析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90F3D-D2F1-485B-907A-E1E75C7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86125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高排名电极 × 频段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形成重要性热图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B7F98-9529-44CB-A4F2-9B31A6D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C6F45-272A-4376-BF0D-F91EDA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CD9A0-91A5-4035-9999-B245E628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304FB-F88C-4C92-9D06-B3870E1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模型扩展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925F7-2F20-4D69-AD7D-A323BE84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86125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MultiBand-LEADv2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共享编码器与频段门控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3125C-34F1-4CB0-92BC-25ED2A4A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75810-ECC3-49D2-A0A7-2CDBC355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7FED3-A03D-4552-9767-CA6786A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D0678-FFE0-4197-A582-D399E8C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稳定性验证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2C7FE-CB0B-459B-9A23-94EE7D65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86125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跨折、跨种子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与独立数据集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C5DFC-7354-46A6-96E0-A71C9806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1ECB2-F209-412B-8C2D-44086371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DB733-8D39-4856-874F-E0F81798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5F3EB-FA37-4CEB-A470-13A0949D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193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结果整理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9050A-7E85-46D1-8477-5D35B737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86125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疾病×频段×电极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稳定性矩阵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9A015-15CC-4FE3-827F-2A66E96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5146"/>
                </a:solidFill>
                <a:latin typeface="Microsoft YaHei"/>
                <a:ea typeface="Microsoft YaHei"/>
                <a:cs typeface="Microsoft YaHei"/>
              </a:rPr>
              <a:t>只有在多次受试者级实验中稳定重现，才将某个因素列为关键因素。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1CC9A-C7AF-47BE-90E4-695E2B07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897453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632C98-8BBD-4D59-8FDD-52EE2CD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执行路线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135E1-533E-495F-840F-EA81570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最小可行实验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602A5-CA7A-46B6-A9C0-DE8BAB35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0EF61-6CC0-49A8-8C0E-2ACED63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8364D-7D69-4DE3-9BCC-8A95AC2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E2CEB-FD35-4A07-A782-5842732F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打通 LEADv2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3DF20-13AE-4E56-9F79-539A3887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38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ADSZ 或 ADFTD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冻结线性探测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67761-8859-434B-98F3-E55E29C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99018-3BBA-4C4F-8615-6C9D972E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3C2B7-17B4-4C29-9CF2-4D5A66D4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94C37-C034-45C7-B88E-DF27A095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验证频段输入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15113-F904-4204-B0B4-39C2DC0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38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broadband / theta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alpha / beta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64E69-F1CF-4905-950E-1F2C666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8E4FF-74D9-4F30-81F2-085BA2D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E770C-4496-4402-993A-212FEB30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1189B-0016-43E7-BAC1-0F76CD5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三疾病主实验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9B4A3-D81C-445A-8D05-51470282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38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AD / MDD / SZ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五频段 + Full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F50F1-7CBB-4CEE-861D-A33EE3DC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3C591-532E-4A4D-BD4F-A356743B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63FEC-29D9-45B5-85F1-7735F7E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D5FA4-498B-457A-B57D-36827841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系统消融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0F28B-6DD2-4F1E-A827-5E6D92B6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38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频段 / 电极 /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特征族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654FF-01EB-44D4-B619-AA4FE18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4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89F55-F674-4712-BBA8-0E2701EE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62125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9E570-05CA-4429-AB08-39C37470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05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D2AEF-C232-4F8D-BCC9-D069F79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4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63D"/>
                </a:solidFill>
                <a:latin typeface="Microsoft YaHei"/>
                <a:ea typeface="Microsoft YaHei"/>
                <a:cs typeface="Microsoft YaHei"/>
              </a:rPr>
              <a:t>MultiBand-LEADv2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EBEEE-B5EC-49ED-BC82-E2237F2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38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与原 LEADv2 和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传统基线比较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23E3D-747C-4E0F-A30A-3BA6EDCF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对照：PSD+SVM、EEGNet/Conformer、原始 LEADv2、MultiBand-LEADv2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E4C39-ABC3-4A22-9BE8-3E3556C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300752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C1E3-EB3B-41BB-84DA-FEEE322E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预期产出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CD5A2-63F3-4603-8A0C-4FADD9EA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E10D-A06D-4546-A3A5-906BE701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4CCC5"/>
                </a:solidFill>
                <a:latin typeface="Microsoft YaHei"/>
                <a:ea typeface="Microsoft YaHei"/>
                <a:cs typeface="Microsoft YaHei"/>
              </a:rPr>
              <a:t>一个可复现的 LEADv2 多疾病微调框架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E7B00-E77C-4867-8ED1-5737DDF7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685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 疾病 × 电极 × 频段 × 特征稳定性矩阵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 单频段判别力和删除后性能下降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 跨被试、跨种子和跨数据集证据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9A8B8-0C49-477F-9600-ED8817F9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90625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7C5E-C449-417F-9484-CD2BDBC7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71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表述边界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2CF4F-995D-47EF-A073-B06D1C99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2619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结果说明对疾病识别的稳定判别贡献。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模型不能单独证明某个 EEG 因素导致疾病。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4CD64-EC07-4B86-B13E-E31E354D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ED0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ED0DC"/>
                </a:solidFill>
                <a:latin typeface="Microsoft YaHei"/>
                <a:ea typeface="Microsoft YaHei"/>
                <a:cs typeface="Microsoft YaHei"/>
              </a:rPr>
              <a:t>主模型：LEADv2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59DF8-1384-4632-9651-0FF04DBD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ED0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ED0D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87985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2026-09-06T09:06:30.6150000Z</dcterms:created>
  <dcterms:modified xsi:type="dcterms:W3CDTF">2026-09-06T09:06:30.6150000Z</dcterms:modified>
</coreProperties>
</file>