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ns0:Relationships xmlns:ns0="http://schemas.openxmlformats.org/package/2006/relationships"><ns0:Relationship Id="rId1" Type="http://schemas.openxmlformats.org/officeDocument/2006/relationships/slide" Target="../slides/slide1.xml"/><ns0:Relationship Id="rId2" Type="http://schemas.openxmlformats.org/officeDocument/2006/relationships/notesMaster" Target="../notesMasters/notesMaster1.xml"/></ns0:Relationships>
</file>

<file path=ppt/notesSlides/_rels/notesSlide2.xml.rels><ns0:Relationships xmlns:ns0="http://schemas.openxmlformats.org/package/2006/relationships"><ns0:Relationship Id="rId1" Type="http://schemas.openxmlformats.org/officeDocument/2006/relationships/slide" Target="../slides/slide2.xml"/><ns0:Relationship Id="rId2" Type="http://schemas.openxmlformats.org/officeDocument/2006/relationships/notesMaster" Target="../notesMasters/notesMaster1.xml"/></ns0:Relationships>
</file>

<file path=ppt/notesSlides/_rels/notesSlide3.xml.rels><ns0:Relationships xmlns:ns0="http://schemas.openxmlformats.org/package/2006/relationships"><ns0:Relationship Id="rId1" Type="http://schemas.openxmlformats.org/officeDocument/2006/relationships/slide" Target="../slides/slide3.xml"/><ns0:Relationship Id="rId2" Type="http://schemas.openxmlformats.org/officeDocument/2006/relationships/notesMaster" Target="../notesMasters/notesMaster1.xml"/></ns0:Relationships>
</file>

<file path=ppt/notesSlides/_rels/notesSlide4.xml.rels><ns0:Relationships xmlns:ns0="http://schemas.openxmlformats.org/package/2006/relationships"><ns0:Relationship Id="rId1" Type="http://schemas.openxmlformats.org/officeDocument/2006/relationships/slide" Target="../slides/slide4.xml"/><ns0:Relationship Id="rId2" Type="http://schemas.openxmlformats.org/officeDocument/2006/relationships/notesMaster" Target="../notesMasters/notesMaster1.xml"/></ns0:Relationships>
</file>

<file path=ppt/notesSlides/_rels/notesSlide5.xml.rels><ns0:Relationships xmlns:ns0="http://schemas.openxmlformats.org/package/2006/relationships"><ns0:Relationship Id="rId1" Type="http://schemas.openxmlformats.org/officeDocument/2006/relationships/slide" Target="../slides/slide5.xml"/><ns0:Relationship Id="rId2" Type="http://schemas.openxmlformats.org/officeDocument/2006/relationships/notesMaster" Target="../notesMasters/notesMaster1.xml"/></ns0:Relationships>
</file>

<file path=ppt/notesSlides/_rels/notesSlide6.xml.rels><ns0:Relationships xmlns:ns0="http://schemas.openxmlformats.org/package/2006/relationships"><ns0:Relationship Id="rId1" Type="http://schemas.openxmlformats.org/officeDocument/2006/relationships/slide" Target="../slides/slide6.xml"/><ns0:Relationship Id="rId2" Type="http://schemas.openxmlformats.org/officeDocument/2006/relationships/notesMaster" Target="../notesMasters/notesMaster1.xml"/></ns0:Relationships>
</file>

<file path=ppt/notesSlides/_rels/notesSlide7.xml.rels><ns0:Relationships xmlns:ns0="http://schemas.openxmlformats.org/package/2006/relationships"><ns0:Relationship Id="rId1" Type="http://schemas.openxmlformats.org/officeDocument/2006/relationships/slide" Target="../slides/slide7.xml"/><ns0:Relationship Id="rId2" Type="http://schemas.openxmlformats.org/officeDocument/2006/relationships/notesMaster" Target="../notesMasters/notesMaster1.xml"/></ns0:Relationships>
</file>

<file path=ppt/notesSlides/_rels/notesSlide8.xml.rels><ns0:Relationships xmlns:ns0="http://schemas.openxmlformats.org/package/2006/relationships"><ns0:Relationship Id="rId1" Type="http://schemas.openxmlformats.org/officeDocument/2006/relationships/slide" Target="../slides/slide8.xml"/><ns0:Relationship Id="rId2" Type="http://schemas.openxmlformats.org/officeDocument/2006/relationships/notesMaster" Target="../notesMasters/notesMaster1.xml"/></ns0:Relationships>
</file>

<file path=ppt/notesSlides/_rels/notesSlide9.xml.rels><ns0:Relationships xmlns:ns0="http://schemas.openxmlformats.org/package/2006/relationships"><ns0:Relationship Id="rId1" Type="http://schemas.openxmlformats.org/officeDocument/2006/relationships/slide" Target="../slides/slide9.xml"/><ns0:Relationship Id="rId2" Type="http://schemas.openxmlformats.org/officeDocument/2006/relationships/notesMaster" Target="../notesMasters/notesMaster1.xml"/></ns0:Relationships>
</file>

<file path=ppt/notesSlides/_rels/notesSlide10.xml.rels><ns0:Relationships xmlns:ns0="http://schemas.openxmlformats.org/package/2006/relationships"><ns0:Relationship Id="rId1" Type="http://schemas.openxmlformats.org/officeDocument/2006/relationships/slide" Target="../slides/slide10.xml"/><ns0:Relationship Id="rId2" Type="http://schemas.openxmlformats.org/officeDocument/2006/relationships/notesMaster" Target="../notesMasters/notesMaster1.xml"/></ns0:Relationships>
</file>

<file path=ppt/notesSlides/_rels/notesSlide11.xml.rels><ns0:Relationships xmlns:ns0="http://schemas.openxmlformats.org/package/2006/relationships"><ns0:Relationship Id="rId1" Type="http://schemas.openxmlformats.org/officeDocument/2006/relationships/slide" Target="../slides/slide11.xml"/><ns0:Relationship Id="rId2" Type="http://schemas.openxmlformats.org/officeDocument/2006/relationships/notesMaster" Target="../notesMasters/notesMaster1.xml"/></ns0:Relationships>
</file>

<file path=ppt/notesSlides/_rels/notesSlide12.xml.rels><ns0:Relationships xmlns:ns0="http://schemas.openxmlformats.org/package/2006/relationships"><ns0:Relationship Id="rId1" Type="http://schemas.openxmlformats.org/officeDocument/2006/relationships/slide" Target="../slides/slide12.xml"/><ns0:Relationship Id="rId2" Type="http://schemas.openxmlformats.org/officeDocument/2006/relationships/notesMaster" Target="../notesMasters/notesMaster1.xml"/></ns0:Relationships>
</file>

<file path=ppt/notesSlides/_rels/notesSlide13.xml.rels><ns0:Relationships xmlns:ns0="http://schemas.openxmlformats.org/package/2006/relationships"><ns0:Relationship Id="rId1" Type="http://schemas.openxmlformats.org/officeDocument/2006/relationships/slide" Target="../slides/slide13.xml"/><ns0:Relationship Id="rId2" Type="http://schemas.openxmlformats.org/officeDocument/2006/relationships/notesMaster" Target="../notesMasters/notesMaster1.xml"/></ns0:Relationships>
</file>

<file path=ppt/notesSlides/_rels/notesSlide14.xml.rels><ns0:Relationships xmlns:ns0="http://schemas.openxmlformats.org/package/2006/relationships"><ns0:Relationship Id="rId1" Type="http://schemas.openxmlformats.org/officeDocument/2006/relationships/slide" Target="../slides/slide14.xml"/><ns0:Relationship Id="rId2" Type="http://schemas.openxmlformats.org/officeDocument/2006/relationships/notesMaster" Target="../notesMasters/notesMaster1.xml"/></ns0: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RepOD 为五次重复随机划分 MCCV，测试被试可能重复，并非标准五折交叉验证。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ADFTD-RS AD vs CN。LaBraM 测试片段 5,562，AUROC 使用独立评估脚本结果，不使用训练日志口径。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为 200 Hz、seed 41，4,747 测试片段。其一名 FTD 平均预测概率约 0.543。训练日志曾出现 Infinity / NaN 梯度范数，需重复实验检查。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测试 6 人、1,714 片段。平均概率投票为 100%（6/6），本表统一采用多数投票。被试 123 平均概率 0.50763，但多数投票判错。LEAD 结果未保存测试 ID、片段数及逐人预测，不能直接声称已验证同一组 6/6。固定划分加载器使用 random.Random(42)。来源：C:/Users/ROG/Desktop/LEAD/results/LEADv2/finetune/LEADv2/P-Base-F-MDD-Mumtaz-200Hz-Fixed/results.txt；C:/Users/ROG/Desktop/LaBraM-main/outputs/LaBraM_MDD-Mumtaz_200Hz_seed41/subject_metrics.json；C:/Users/ROG/Desktop/LaBraM-main/outputs/LaBraM_MDD-Mumtaz_200Hz_seed41/subject_predictions.cs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平均片段准确率高 9.14 个百分点，片段 AUROC 高 16.81 个百分点，患者级准确率高 20.00 个百分点。seed43 使用成功重跑 seed43_new。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患者级准确率范围 50%–100%，LEADv2 范围 50%–66.67%。不能将五次的测试人数简单视为 30 名独立被试。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为五次 MCCV 均值，标准差见 SZ 结果页。其他任务为单次固定划分。MDD 的 LEAD 实际测试 ID 尚待补齐。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掩码基线建立后，再探索受 EvoFuse 启发的掩码或任务权重搜索，与随机搜索、贪心筛选及无掩码 LEADv2 比较。控制跨数据集设备、参考及处理流程差异。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>
            <p:ph type="body" idx="1"/>
          </p:nvPr>
        </p:nvSpPr>
        <p:spPr>
          <a:xfrm>
            <a:off x="254000" y="254000"/>
            <a:ext cx="6350000" cy="8255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来源：C:\Users\ROG\Desktop\FYP\LEADv2与LaBraM公开数据集对比报告.md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原始报告与运行路径：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 LEADv2 与 LaBraM 公开数据集对比报告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更新日期：2026-10-10  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研究目标：以 LEADv2 为主要模型，分析多疾病识别中电极与频段的稳定贡献；LaBraM 用作独立模型对照。医院数据留作后期外部验证。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一、结论摘要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当前没有一个模型在所有任务上都领先。ADFTD-RS 的 AD vs CN 中，LEADv2 的片段级准确率和 AUROC 较高，但两模型患者级均为 6/7。ADFTD-RS 的 FTD vs CN 中，LEADv2 的片段级指标较高，两模型患者级均为 6/6；但 LEAD 这次运行的完整采样率配置未保存在结果文件中，严格的同条件片段级比较尚待核实。RepOD 的 SZ vs HC 五次重复随机划分中，LaBraM 的平均片段级和患者级指标较高，但患者级正确率在 50%—100% 间波动。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MDD-Mumtaz 的单次固定划分中，LEADv2 片段准确率、片段 AUROC 和多数投票患者级准确率较高。LaBraM 的患者级多数投票为 5/6，平均概率投票为 6/6，须严格区分口径。LEAD MDD 的实际测试 ID 仍需补齐。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这些结果支持继续研究“哪些 EEG 电极和频段在不同被试划分下仍有稳定的分类贡献”，不能据此断言某模型在所有疾病上更好，也不能把分类相关特征解释为疾病的因果因素。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四任务结果总表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全部数值为测试结果，单位为 %。患者级准确率统一采用片段多数投票。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任务 / 数据集 | 模型 | 片段准确率 | 片段 AUROC | 患者级准确率 | 评估方案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|---|---|---:|---:|---:|---|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LEADv2 | 79.34 | 89.59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AD / ADFTD-RS | LaBraM | 73.25 | 81.89 | 85.71（6/7） | 200 Hz，固定划分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LEADv2 | 92.74 | 98.01 | 100.00 | 固定划分，实际采样率待补证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/ ADFTD-RS | LaBraM | 83.80 | 94.98 | 100.00（6/6） | 200 Hz，seed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LEADv2 | 89.91 | 98.78 | 100.00 | 200 Hz 标记运行，固定划分，seed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MDD / Mumtaz | LaBraM | 83.14 | 93.57 | 83.33（5/6） | 200 Hz，固定划分，seed 41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LEADv2 | 61.79 ± 6.73 | 62.64 ± 10.37 | 56.67 ± 8.16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SZ / RepOD | LaBraM | 70.93 ± 9.33 | 79.45 ± 3.86 | 76.67 ± 17.00 | 200 Hz，五次 MCCV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SZ 的“±”为五次结果的总体标准差，不是置信区间。其他任务是单次固定划分，不具有相同的重复实验支持。FTD 片段结果尚待核实 LEAD 采样率。MDD 的 LEAD 结果未保存逐人预测及测试片段数，不能仅凭同一加载器的划分逻辑断定旧运行的实际测试 ID 完全一致。LaBraM MDD 平均概率投票为 100%，此处统一采用多数投票的 83.33%。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二、模型与本次比较的定位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项目 | LEADv2 | LaBraM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FYP 角色 | 主模型；后续进行电极×频段掩码和稳定性研究 | 对照模型；检验结论是否依赖单一架构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预训练与表示 | 单通道 EEG patch，结合时间位置、通道空间位置及采样率信息，并进行时间和通道维度的注意力建模 | EEG 通道 patch；预训练中预测被遮蔽 patch 的离散神经编码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当前下游运行方式 | 使用 LEADv2 P-Base 预训练权重微调 | 使用 LaBraM base 预训练权重，通过适配器读取同一份 LEAD 格式数据并微调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FTD 运行记录中的参数量 | 约 332 万 | 约 582 万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在这里使用的是适配后的 LEAD 数据流程，并非其原论文的完整数据预处理与评测协议。两个模型的训练策略、架构和参数量不同，所以表中的差异是“当前实现与训练设置下”的结果，不是纯架构消融。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三、公开数据集结果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3.1 ADFTD-RS：AD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比较采用 200 Hz 的完整运行，不使用 smoke test 或较早的测试性运行。测试集有 7 名被试；LaBraM 独立评估记录有 5,562 个测试片段。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79.34% | 73.25% | LEADv2 高 6.09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89.59% | 81.89% | LEADv2 高 7.70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85.71%（6/7） | 85.71%（6/7） | 持平；测试人数较少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此处 LaBraM 使用独立评估脚本输出的 AUROC；它与训练日志里的 AUROC 数字不同，后续应统一以独立评估口径报告。片段级占优并不自动转化为更多患者判断正确。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200 Hz 结果](C:/Users/ROG/Desktop/LEAD/results/LEADv2/finetune/LEADv2/P-Base-F-ADFTDRS-ADvsCN-200Hz-Full/results.txt)、[LaBraM 独立评估](C:/Users/ROG/Desktop/LaBraM-main/outputs/LaBraM_ADFTDRS_ADvsCN_200Hz_Full/subject_metrics.json)。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3.2 ADFTD-RS：FTD vs CN，固定被试划分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使用 200 Hz、seed 41；测试集为 6 名被试、4,747 个片段。两个加载器的固定划分逻辑均为按类别、按被试分层并使用固定随机种子；但 LEAD 结果文件没有保存其实际 `sampling_rate_list` 与测试片段数，因此还不能完全确认片段级比较条件一致。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解读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92.74% | 83.80% | 表面差距 8.94 个百分点；须先核实 LEAD 的采样率配置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98.01% | 94.98% | 表面差距约 3.03 个百分点；同上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100% | 100%（6/6） | 当前一次划分中持平，不代表总体准确率 100%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 3 名 CN 和 3 名 FTD 都判对了；其中一名 FTD 的平均预测概率约 0.543，距 0.5 判别阈值较近。LaBraM 训练日志出现过 `Infinity` / `NaN` 梯度范数，应在重复实验中检查训练稳定性。LEAD 的患者级指标来自多数投票；LaBraM 独立评估同时计算了多数投票及平均概率，本表只比较多数投票准确率。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FTD 结果](C:/Users/ROG/Desktop/LEAD/results/LEADv2/finetune/LEADv2/P-Base-F-ADFTDRS-FTDvsCN/results.txt)、[LaBraM 指标](C:/Users/ROG/Desktop/LaBraM-main/outputs/LaBraM_ADFTDRS_FTDvsCN_200Hz_seed41/subject_metrics.json)、[LaBraM 逐人预测](C:/Users/ROG/Desktop/LaBraM-main/outputs/LaBraM_ADFTDRS_FTDvsCN_200Hz_seed41/subject_predictions.csv)。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3.3 RepOD：SZ vs HC，五次 MCCV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两模型使用 200 Hz，种子为 41—45。每次随机划分的测试集为 6 名被试。这里的 MCCV 是五次重复随机划分，测试被试可能在不同次运行中重复，**不是**互不重叠的标准五折交叉验证。表中“±”为五次结果的总体标准差，并非置信区间。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LEADv2，均值 ± 标准差 | LaBraM，均值 ± 标准差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61.79 ± 6.73% | 70.93 ± 9.33% | LaBraM 平均高 9.14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62.64 ± 10.37% | 79.45 ± 3.86% | LaBraM 平均高 16.81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56.67 ± 8.16% | 76.67 ± 17.00% | LaBraM 平均高 20.00 个百分点，但波动更大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随机种子 | 41 | 42 | 43 | 44 | 45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|---|---:|---:|---:|---:|---:|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LEADv2 判对人数 | 4/6 | 3/6 | 3/6 | 4/6 | 3/6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LaBraM 判对人数 | 5/6 | 4/6 | 3/6 | 5/6 | 6/6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在 seed 43 仅判对 3/6，在 seed 45 判对 6/6；它的高平均值并不意味着对所有被试划分都稳定。片段相互重叠且同一被试提供大量片段，不能把片段数量当作独立患者数量。LaBraM 的 AUROC 取各次 `subject_metrics.json` 的独立评估值；训练日志可能由于评估精度或实现口径不同而产生其他数值。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五次运行汇总](C:/Users/ROG/Desktop/LEAD/results/LEADv2/finetune/LEADv2/P-Base-F-RepOD-200Hz-MCCV/results.txt)；LaBraM 的 seed 41—45 均见 `C:/Users/ROG/Desktop/LaBraM-main/outputs/LaBraM_RepOD_200Hz_seed*/subject_metrics.json`（seed 43 使用 `seed43_new` 的成功重跑结果）。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### 3.4 Mumtaz：MDD vs HC，固定被试划分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LEADv2 使用 `P-Base-F-MDD-Mumtaz-200Hz-Fixed` 完整运行，模型设置记录 seed 41，单次结果。LaBraM 独立评估记录采样率 200 Hz、seed 41，测试集为 6 名被试、1,714 个片段。加载器针对闭眼 EEG 的 MDD 与健康对照分类，固定划分逻辑使用 random.Random(42)，训练 seed 41 不等于划分随机种子。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测试指标 | LEADv2 | LaBraM | 当前比较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|---|---:|---:|---|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片段准确率 | 89.91% | 83.14% | LEADv2 高 6.77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片段 AUROC | 98.78% | 93.57% | LEADv2 高 5.21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| 患者级准确率，多数投票 | 100.00% | 83.33%（5/6） | LEADv2 高 16.67 个百分点 |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LaBraM 的平均概率投票准确率为 100%（6/6），但多数投票只判对 5/6，不能将这两个指标混用。被试 123 的平均预测概率为 0.50763，平均概率投票判为 MDD，但片段多数投票判为 HC。表内与其他任务统一采用多数投票口径。测试被试 ID 为 1、4、23、111、123、130。LEAD 结果文件没有保存实际测试 ID、测试片段数及逐人预测，100% 暂保留原始百分比，不额外声称已验证为同一组 6/6。需补齐记录后再作严格配对比较，并进行多次被试划分复核。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来源：[LEAD MDD 结果](C:/Users/ROG/Desktop/LEAD/results/LEADv2/finetune/LEADv2/P-Base-F-MDD-Mumtaz-200Hz-Fixed/results.txt)、[LaBraM MDD 独立评估](C:/Users/ROG/Desktop/LaBraM-main/outputs/LaBraM_MDD-Mumtaz_200Hz_seed41/subject_metrics.json)、[LaBraM MDD 逐人预测](C:/Users/ROG/Desktop/LaBraM-main/outputs/LaBraM_MDD-Mumtaz_200Hz_seed41/subject_predictions.csv)。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四、可比性、局限与不能下的结论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1. **被试级划分优先。**同一人的多个片段不能跨训练、验证和测试集。现有适配器按被试划分，但在正式论文中仍需记录每次运行的实际被试 ID。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2. **FTD 的采样率须补证。**LEAD 脚本默认 `sampling_rate_list=200`，但已有 FTD 结果文件未保存启动参数，不能仅凭默认值断定旧运行的设置。核实后再将片段级差距写成严格对照。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3. **指标口径不同。**LEAD 的患者级结果采用片段多数投票；LaBraM 独立脚本还输出平均概率投票。LEAD 结果中的患者级 AUROC 也不应直接等同于 LaBraM 基于患者平均概率计算的 AUROC。当前以片段 AUROC 与患者级多数投票准确率为主。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4. **测试被试少。**AD 测试 7 人，FTD 测试 6 人，LaBraM MDD 测试 6 人，RepOD 每次测试 6 人；单人判断改变就能显著改变百分比。没有跨划分验证的“100%”尤其不应宣传为可靠临床性能。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5. **任务与数据集混杂。**AD、FTD 来自 ADFTD-RS，SZ 来自 RepOD，MDD 来自 Mumtaz。两个数据集在设备、参考、记录状态和处理流程上可能不同。不能把跨数据集的性能差异直接解释为疾病生理差异，也不能简单合成多疾病标签而不控制数据集来源。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6. **模型训练条件并非完全相同。**使用了共同的 LEAD 格式公开数据和对应被试划分逻辑，但预训练来源、输入 patch、训练超参数以及模型参数量不同。因此结果衡量的是各自当前微调流程，而非单一架构因素。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7. **测试集不应指导优化。**后续电极／频段掩码、超参数或进化搜索应只在训练集与内层验证集确定；独立测试集用于最后一次报告。现有多个实验已看过测试指标，之后的新模型比较需预先固定评估方案。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## 五、对 FYP 方向的意义与下一步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目前的模型对照给出研究动机：单纯换一个 EEG 预训练模型，没有回答“哪些电极与频段真正支持分类”及“这些特征是否跨划分稳定”。建议 LEADv2 作为主干，先建立不涉及进化算法的基线：全频段输入、逐频段遮蔽、逐电极遮蔽、少量电极×频段组合遮蔽。每项均比较患者级指标，并记录各被试划分中被选特征的重合度。随后再尝试受 EvoFuse 启发的掩码或任务权重搜索，并与随机搜索、贪心筛选及无掩码 LEADv2 对照。LaBraM 用于对关键筛选结论进行跨模型复核。医院数据只在公开数据集方法固定后用于外部验证。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>在扩大实验前，优先完成两件事：其一，核实 LEAD FTD 旧运行的采样率与测试片段数，必要时重跑明确标记为 200 Hz 的 LEAD 基线；其二，在 AD、FTD 与 MDD 任务上使用相同、预先登记的多次被试划分，观察患者级性能和重要电极／频段是否保持稳定。</a:t>
            </a:r>
          </a:p>
          <a:p>
            <a:pPr>
              <a:buNone/>
            </a:pPr>
            <a:r>
              <a:rPr lang="zh-CN" sz="1200" b="0">
                <a:solidFill>
                  <a:srgbClr val="243449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1.xml"/></ns0:Relationships>
</file>

<file path=ppt/slides/_rels/slide2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2.xml"/></ns0:Relationships>
</file>

<file path=ppt/slides/_rels/slide3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3.xml"/></ns0:Relationships>
</file>

<file path=ppt/slides/_rels/slide4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4.xml"/></ns0:Relationships>
</file>

<file path=ppt/slides/_rels/slide5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5.xml"/></ns0:Relationships>
</file>

<file path=ppt/slides/_rels/slide6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6.xml"/></ns0:Relationships>
</file>

<file path=ppt/slides/_rels/slide7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7.xml"/></ns0:Relationships>
</file>

<file path=ppt/slides/_rels/slide8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8.xml"/></ns0:Relationships>
</file>

<file path=ppt/slides/_rels/slide9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9.xml"/></ns0:Relationships>
</file>

<file path=ppt/slides/_rels/slide10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10.xml"/></ns0:Relationships>
</file>

<file path=ppt/slides/_rels/slide11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11.xml"/></ns0:Relationships>
</file>

<file path=ppt/slides/_rels/slide12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12.xml"/></ns0:Relationships>
</file>

<file path=ppt/slides/_rels/slide13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13.xml"/></ns0:Relationships>
</file>

<file path=ppt/slides/_rels/slide14.xml.rels>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notesSlide" Target="../notesSlides/notesSlide14.xml"/></ns0: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1143000"/>
            <a:ext cx="8026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4000" b="1">
                <a:solidFill>
                  <a:srgbClr val="16324F"/>
                </a:solidFill>
                <a:latin typeface="Microsoft YaHei"/>
                <a:ea typeface="Microsoft YaHei"/>
              </a:rPr>
              <a:t>LEAD 和 LaBraM 对比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58800" y="26035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000" b="0">
                <a:solidFill>
                  <a:srgbClr val="243449"/>
                </a:solidFill>
                <a:latin typeface="Microsoft YaHei"/>
                <a:ea typeface="Microsoft YaHei"/>
              </a:rPr>
              <a:t>EEG 预训练模型与公开数据集实验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58800" y="32131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000" b="0">
                <a:solidFill>
                  <a:srgbClr val="243449"/>
                </a:solidFill>
                <a:latin typeface="Microsoft YaHei"/>
                <a:ea typeface="Microsoft YaHei"/>
              </a:rPr>
              <a:t>LEAD 采用项目中的 LEADv2 P-Base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58800" y="38227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000" b="0">
                <a:solidFill>
                  <a:srgbClr val="243449"/>
                </a:solidFill>
                <a:latin typeface="Microsoft YaHei"/>
                <a:ea typeface="Microsoft YaHei"/>
              </a:rPr>
              <a:t>FYP 研究汇报    2026.10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本次对比的主要发现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58800" y="16002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AD：LEADv2 的片段指标较高，患者级均为 6/7。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58800" y="23114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FTD：患者级均为 6/6，片段比较仍需核实配置。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58800" y="30226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SZ：LaBraM 五次划分的平均指标较高，但波动明显。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58800" y="37338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MDD：LEADv2 指标较高，多数投票 100% 对 83.33%。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结果来自当前微调实现，不支持“某模型在所有疾病上更好”的结论。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模型表示与项目角色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295400"/>
          <a:ext cx="8026400" cy="2921000"/>
        </p:xfrm>
        <a:graphic>
          <a:graphicData uri="http://schemas.openxmlformats.org/drawingml/2006/main/table">
            <a:tbl>
              <a:tblPr firstRow="1" bandRow="0"/>
              <a:tblGrid>
                <a:gridCol w="1778000"/>
                <a:gridCol w="3124200"/>
                <a:gridCol w="3124200"/>
              </a:tblGrid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比较维度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LEADv2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LaBraM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表示方式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单通道 EEG patch</a:t>
                      </a:r>
                    </a:p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时间、空间及采样率信息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EEG 通道 patch</a:t>
                      </a:r>
                    </a:p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离散神经编码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建模 / 预训练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时间与通道维度</a:t>
                      </a:r>
                    </a:p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注意力建模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预测遮蔽 patch 的</a:t>
                      </a:r>
                    </a:p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离散神经编码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当前权重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P-Base 预训练权重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base 预训练权重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项目角色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主模型，电极×频段研究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独立模型对照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LaBraM 通过适配器读取 LEAD 格式数据，未复现原论文完整评测协议。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任务与评估口径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295400"/>
          <a:ext cx="8026400" cy="2921000"/>
        </p:xfrm>
        <a:graphic>
          <a:graphicData uri="http://schemas.openxmlformats.org/drawingml/2006/main/table">
            <a:tbl>
              <a:tblPr firstRow="1" bandRow="0"/>
              <a:tblGrid>
                <a:gridCol w="1778000"/>
                <a:gridCol w="3175000"/>
                <a:gridCol w="3073400"/>
              </a:tblGrid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公开数据集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分类任务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本次测试方案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ADFTD-RS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AD vs CN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固定被试划分，7 人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ADFTD-RS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FTD vs CN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固定被试划分，6 人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Mumtaz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MDD vs HC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固定划分，LaBraM 测试 6 人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RepOD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SZ vs HC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seed 41–45，每次 6 人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主指标：片段准确率、片段 AUROC、患者级多数投票准确率。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AD：片段优势未转化为患者级差距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397000"/>
          <a:ext cx="8026400" cy="2946400"/>
        </p:xfrm>
        <a:graphic>
          <a:graphicData uri="http://schemas.openxmlformats.org/drawingml/2006/main/table">
            <a:tbl>
              <a:tblPr firstRow="1" bandRow="0"/>
              <a:tblGrid>
                <a:gridCol w="3175000"/>
                <a:gridCol w="2425700"/>
                <a:gridCol w="2425700"/>
              </a:tblGrid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LEADv2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LaBraM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79.34%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73.25%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 AUROC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89.59%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81.89%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患者级准确率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85.71%（6/7）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85.71%（6/7）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200 Hz 完整运行。LEADv2 准确率高 6.09 个百分点，AUROC 高 7.70 个百分点。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FTD：患者级持平，配置仍待补证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397000"/>
          <a:ext cx="8026400" cy="2946400"/>
        </p:xfrm>
        <a:graphic>
          <a:graphicData uri="http://schemas.openxmlformats.org/drawingml/2006/main/table">
            <a:tbl>
              <a:tblPr firstRow="1" bandRow="0"/>
              <a:tblGrid>
                <a:gridCol w="3175000"/>
                <a:gridCol w="2425700"/>
                <a:gridCol w="2425700"/>
              </a:tblGrid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LEADv2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LaBraM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92.74%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83.80%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 AUROC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98.01%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94.98%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患者级准确率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100%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100%（6/6）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LEAD 旧结果未保存实际采样率和测试片段数，片段差距暂不作为严格同条件结论。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MDD：LEADv2 的当前指标较高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397000"/>
          <a:ext cx="8026400" cy="2946400"/>
        </p:xfrm>
        <a:graphic>
          <a:graphicData uri="http://schemas.openxmlformats.org/drawingml/2006/main/table">
            <a:tbl>
              <a:tblPr firstRow="1" bandRow="0"/>
              <a:tblGrid>
                <a:gridCol w="3175000"/>
                <a:gridCol w="2425700"/>
                <a:gridCol w="2425700"/>
              </a:tblGrid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LEADv2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LaBraM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89.91%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83.14%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 AUROC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98.78%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93.57%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患者级多数投票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100.00%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83.33%（5/6）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Mumtaz 固定划分，200 Hz 标记运行，训练 seed 41。LEAD 测试 ID 尚待补齐。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SZ：LaBraM 的五次平均表现更高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397000"/>
          <a:ext cx="8026400" cy="2946400"/>
        </p:xfrm>
        <a:graphic>
          <a:graphicData uri="http://schemas.openxmlformats.org/drawingml/2006/main/table">
            <a:tbl>
              <a:tblPr firstRow="1" bandRow="0"/>
              <a:tblGrid>
                <a:gridCol w="2997200"/>
                <a:gridCol w="2514600"/>
                <a:gridCol w="2514600"/>
              </a:tblGrid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LEADv2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LaBraM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61.79 ± 6.73%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70.93 ± 9.33%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片段 AUROC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62.64 ± 10.37%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79.45 ± 3.86%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患者级准确率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56.67 ± 8.16%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76.67 ± 17.00%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200 Hz，seed 41–45。“±”表示五次结果的总体标准差，不是置信区间。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SZ：患者级结果对划分较敏感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397000"/>
          <a:ext cx="8026400" cy="2209800"/>
        </p:xfrm>
        <a:graphic>
          <a:graphicData uri="http://schemas.openxmlformats.org/drawingml/2006/main/table">
            <a:tbl>
              <a:tblPr firstRow="1" bandRow="0"/>
              <a:tblGrid>
                <a:gridCol w="2438400"/>
                <a:gridCol w="1117600"/>
                <a:gridCol w="1117600"/>
                <a:gridCol w="1117600"/>
                <a:gridCol w="1117600"/>
                <a:gridCol w="1117600"/>
              </a:tblGrid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 / seed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41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42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43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44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45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LEADv2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4/6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3/6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3/6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4/6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3/6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7366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LaBraM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5/6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4/6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3/6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5/6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8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6/6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每次仅 6 名测试被试，一人判断变化对应约 16.67 个百分点。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四任务结果总表</a:t>
            </a:r>
          </a:p>
        </p:txBody>
      </p:sp>
      <p:graphicFrame>
        <p:nvGraphicFramePr>
          <p:cNvPr id="3" name="Comparison table"/>
          <p:cNvGraphicFramePr/>
          <p:nvPr/>
        </p:nvGraphicFramePr>
        <p:xfrm>
          <a:off x="558800" y="1295400"/>
          <a:ext cx="8026400" cy="2921000"/>
        </p:xfrm>
        <a:graphic>
          <a:graphicData uri="http://schemas.openxmlformats.org/drawingml/2006/main/table">
            <a:tbl>
              <a:tblPr firstRow="1" bandRow="0"/>
              <a:tblGrid>
                <a:gridCol w="1473200"/>
                <a:gridCol w="2184400"/>
                <a:gridCol w="2184400"/>
                <a:gridCol w="2184400"/>
              </a:tblGrid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任务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片段准确率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片段 AUROC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患者级准确率</a:t>
                      </a:r>
                    </a:p>
                  </a:txBody>
                  <a:tcPr marL="152400" marR="114300" marT="50800" marB="38100" anchor="ctr">
                    <a:solidFill>
                      <a:srgbClr val="16324F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AD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79.34 / 73.25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89.59 / 81.89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85.71 / 85.71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FTD*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92.74 / 83.80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98.01 / 94.98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100 / 100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MDD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89.91 / 83.14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98.78 / 93.57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100 / 83.33</a:t>
                      </a:r>
                    </a:p>
                  </a:txBody>
                  <a:tcPr marL="152400" marR="114300" marT="50800" marB="38100" anchor="ctr">
                    <a:solidFill>
                      <a:srgbClr val="EEF3F7"/>
                    </a:solidFill>
                  </a:tcPr>
                </a:tc>
              </a:tr>
              <a:tr h="584200"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SZ 均值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61.79 / 70.93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62.64 / 79.45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>
                        <a:buNone/>
                      </a:pPr>
                      <a:r>
                        <a:rPr lang="zh-CN" sz="1700" b="0">
                          <a:solidFill>
                            <a:srgbClr val="243449"/>
                          </a:solidFill>
                          <a:latin typeface="Microsoft YaHei"/>
                          <a:ea typeface="Microsoft YaHei"/>
                        </a:rPr>
                        <a:t>56.67 / 76.67</a:t>
                      </a:r>
                    </a:p>
                  </a:txBody>
                  <a:tcPr marL="152400" marR="114300" marT="508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每格依次为 LEADv2 / LaBraM，单位 %。患者级采用多数投票。FTD* 配置待补证。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比较结果的适用范围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58800" y="16002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模型设置：训练策略、patch 和预训练来源不同。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58800" y="23114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FTD 配置：需补齐 LEAD 采样率与实际测试片段数。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58800" y="30226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指标口径：患者级多数投票与平均概率不能混用。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58800" y="37338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小样本：单次 100% 不能代表可靠临床性能。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FTD 运行记录参数量约为 LEADv2 332 万、LaBraM 582 万，属于当前配置。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电极与频段稳定性研究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58800" y="16002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LEADv2 主干：全频段、逐频段及逐电极遮蔽基线。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58800" y="23114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组合遮蔽：比较电极×频段组合对患者级指标的影响。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58800" y="30226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稳定性：记录不同被试划分中重要特征的重合度。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58800" y="37338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LaBraM 复核：检验关键筛选结论是否依赖单一模型。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分类贡献只表示关联，不能解释为疾病的因果因素。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后续实验安排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58800" y="16002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首先补证 FTD 配置，必要时重跑明确标记的 200 Hz 基线。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58800" y="23114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为 AD、FTD 与 MDD 固定多次被试划分，并保存实际被试 ID。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58800" y="30226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在训练集与内层验证集完成掩码、超参数及搜索选择。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58800" y="37338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方法固定后，用医院数据开展外部验证。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已有实验查看过测试指标，后续比较应预先固定评估方案。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457200"/>
            <a:ext cx="802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3000" b="1">
                <a:solidFill>
                  <a:srgbClr val="16324F"/>
                </a:solidFill>
                <a:latin typeface="Microsoft YaHei"/>
                <a:ea typeface="Microsoft YaHei"/>
              </a:rPr>
              <a:t>资料来源与结论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58800" y="16002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项目资料：LEADv2 与 LaBraM 公开数据集对比报告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58800" y="23114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报告更新：2026-10-10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58800" y="30226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当前结果支持继续做电极与频段稳定性研究。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58800" y="3733800"/>
            <a:ext cx="8026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2100" b="0">
                <a:solidFill>
                  <a:srgbClr val="243449"/>
                </a:solidFill>
                <a:latin typeface="Microsoft YaHei"/>
                <a:ea typeface="Microsoft YaHei"/>
              </a:rPr>
              <a:t>LEADv2 作为主模型，LaBraM 用于跨模型复核。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58800" y="4495800"/>
            <a:ext cx="8026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400" b="0">
                <a:solidFill>
                  <a:srgbClr val="526276"/>
                </a:solidFill>
                <a:latin typeface="Microsoft YaHei"/>
                <a:ea typeface="Microsoft YaHei"/>
              </a:rPr>
              <a:t>原始运行记录路径及各任务指标口径见相应页面备注。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382000" y="48514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>
              <a:buNone/>
            </a:pPr>
            <a:r>
              <a:rPr lang="zh-CN" sz="1000" b="0">
                <a:solidFill>
                  <a:srgbClr val="6C7988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2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3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4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5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6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7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8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9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10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11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12.xml><?xml version="1.0" encoding="utf-8"?>
<p:tagLst xmlns:p="http://schemas.openxmlformats.org/presentationml/2006/main">
  <p:tag name="KSO_WM_DIAGRAM_VIRTUALLY_FRAME" val="{&quot;height&quot;:228,&quot;left&quot;:46.5,&quot;top&quot;:90,&quot;width&quot;:598.5}"/>
</p:tagLst>
</file>

<file path=ppt/tags/tag13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14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15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16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17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18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19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20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ags/tag21.xml><?xml version="1.0" encoding="utf-8"?>
<p:tagLst xmlns:p="http://schemas.openxmlformats.org/presentationml/2006/main">
  <p:tag name="KSO_WM_DIAGRAM_VIRTUALLY_FRAME" val="{&quot;height&quot;:167.25,&quot;left&quot;:39,&quot;top&quot;:96,&quot;width&quot;:629.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</Words>
  <Application>WPS 演示</Application>
  <PresentationFormat>Converted Presentation</PresentationFormat>
  <Paragraphs>344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WPS_1687824760</cp:lastModifiedBy>
  <cp:revision>1</cp:revision>
  <dcterms:created xsi:type="dcterms:W3CDTF">2026-09-15T03:45:10Z</dcterms:created>
  <dcterms:modified xsi:type="dcterms:W3CDTF">2026-09-15T03:45:10Z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94E01CF73DAC4345906350628FA9B85F_12</vt:lpwstr>
  </property>
</Properties>
</file>