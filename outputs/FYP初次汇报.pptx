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9" r:id="rId8"/>
    <p:sldId id="261" r:id="rId9"/>
    <p:sldId id="270" r:id="rId10"/>
    <p:sldId id="263" r:id="rId11"/>
    <p:sldId id="264" r:id="rId12"/>
    <p:sldId id="265" r:id="rId13"/>
    <p:sldId id="271" r:id="rId14"/>
    <p:sldId id="267" r:id="rId15"/>
    <p:sldId id="268" r:id="rId16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片段级 AUROC</c:f>
              <c:strCache>
                <c:ptCount val="1"/>
                <c:pt idx="0">
                  <c:v>片段级 AUROC</c:v>
                </c:pt>
              </c:strCache>
            </c:strRef>
          </c:tx>
          <c:spPr>
            <a:solidFill>
              <a:srgbClr val="2196D2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{"APAVA（AD）","RepOD（SZ）"}</c:f>
              <c:strCache>
                <c:ptCount val="2"/>
                <c:pt idx="0">
                  <c:v>APAVA（AD）</c:v>
                </c:pt>
                <c:pt idx="1">
                  <c:v>RepOD（SZ）</c:v>
                </c:pt>
              </c:strCache>
            </c:strRef>
          </c:cat>
          <c:val>
            <c:numRef>
              <c:f>{0.919,0.6489}</c:f>
              <c:numCache>
                <c:formatCode>0%</c:formatCode>
                <c:ptCount val="2"/>
                <c:pt idx="0">
                  <c:v>0.919</c:v>
                </c:pt>
                <c:pt idx="1">
                  <c:v>0.6489</c:v>
                </c:pt>
              </c:numCache>
            </c:numRef>
          </c:val>
        </c:ser>
        <c:ser>
          <c:idx val="1"/>
          <c:order val="1"/>
          <c:tx>
            <c:strRef>
              <c:f>被试级 AUROC</c:f>
              <c:strCache>
                <c:ptCount val="1"/>
                <c:pt idx="0">
                  <c:v>被试级 AUROC</c:v>
                </c:pt>
              </c:strCache>
            </c:strRef>
          </c:tx>
          <c:spPr>
            <a:solidFill>
              <a:srgbClr val="D49A22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{"APAVA（AD）","RepOD（SZ）"}</c:f>
              <c:strCache>
                <c:ptCount val="2"/>
                <c:pt idx="0">
                  <c:v>APAVA（AD）</c:v>
                </c:pt>
                <c:pt idx="1">
                  <c:v>RepOD（SZ）</c:v>
                </c:pt>
              </c:strCache>
            </c:strRef>
          </c:cat>
          <c:val>
            <c:numRef>
              <c:f>{0.9,0.5667}</c:f>
              <c:numCache>
                <c:formatCode>0%</c:formatCode>
                <c:ptCount val="2"/>
                <c:pt idx="0">
                  <c:v>0.9</c:v>
                </c:pt>
                <c:pt idx="1">
                  <c:v>0.5667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9525">
          <a:solidFill>
            <a:srgbClr val="C9D7DF"/>
          </a:solidFill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6546e21-8ad7-4b1c-a8d5-f4a9cbd5f4bc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本页使用用户提供的调研汇报模板。研究主线：公开数据集上的可复现性能提升；医院数据仅作后续外部验证。主模型为LEAD。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来源：用户提供的EEG文章筛选.xlsx与现有FYP版本1。共同输入条件属于文献观察，不代表因果或决定性证据。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通俗解释：第一，模型可能利用采集条件判断数据集来源。第二，同一被试的片段不能同时进入训练集和测试集。第三，临床评价单位是患者，因此主要报告患者级指标。医院数据仅作后续实验验证。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来源：EEG文章筛选.xlsx、LEAD论文与FYP版本1中的方法综述。LaBraM仅在此作为预训练模型类别示例。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LEAD技术依据来自本地论文2502.01678v4.pdf和C:/Users/ROG/Desktop/LEAD代码。第三项为本项目在LEAD基础上的研究扩展。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图片来源：C:/Users/ROG/Desktop/LEAD/figs/lead_pipeline.png，来自LEAD项目。模型主体固定为LEAD。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数据来源：C:/Users/ROG/Desktop/LEAD/results/LEADv2/finetune/LEADv2/P-Base-F-APAVA-Multi/results.txt；C:/Users/ROG/Desktop/LEAD/results/LEADv2/finetune/LEADv2/P-Base-F-RepOD-MCCV/results.txt。APAVA：片段级AUROC 91.90%，被试级AUROC 90.00%。RepOD：片段级AUROC 64.89%，被试级AUROC 56.67%。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医院数据仅作为模型定型后的外部实验验证。LaBraM不进入主线开发，仅作为末期可选的模型独立性复核。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汇报结束。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-36830" y="28575"/>
            <a:ext cx="9144000" cy="480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23875" y="1219200"/>
            <a:ext cx="66675" cy="16002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095375"/>
            <a:ext cx="723900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8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8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 LEAD 的多疾病 EEG</a:t>
            </a:r>
            <a:endParaRPr sz="28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28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8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关键因素筛选</a:t>
            </a:r>
            <a:endParaRPr sz="28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400300"/>
            <a:ext cx="7239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公开数据集性能提升与电极、频段、特征的稳定贡献</a:t>
            </a:r>
            <a:endParaRPr sz="157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0" y="356235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FYP 调研汇报</a:t>
            </a:r>
            <a:endParaRPr sz="13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0" y="3905250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417"/>
          </a:bodyPr>
          <a:lstStyle/>
          <a:p>
            <a:pPr algn="r">
              <a:defRPr sz="1200" b="0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2026-09-1</a:t>
            </a:r>
            <a:r>
              <a:rPr lang="en-US" sz="1200" b="0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lang="en-US" sz="1200" b="0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9575" y="1181100"/>
            <a:ext cx="57150" cy="4953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0550" y="114300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275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85850" y="12668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研究背景</a:t>
            </a:r>
            <a:endParaRPr sz="16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800350" y="127508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公开数据上的问题与挑战</a:t>
            </a:r>
            <a:endParaRPr sz="1275" b="0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0" y="192405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14425" y="204787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研究现状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800350" y="202692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分类范式与证据缺口</a:t>
            </a:r>
            <a:endParaRPr sz="127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90550" y="270510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85850" y="28289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代表方法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829560" y="277876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LEAD与本项目框架</a:t>
            </a:r>
            <a:endParaRPr sz="127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90550" y="348615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123950" y="360997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后续工作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828925" y="36099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公开数据提升与外部验证</a:t>
            </a:r>
            <a:endParaRPr sz="127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EEG疾病识别中的共同输入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" y="895350"/>
            <a:ext cx="82296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7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多篇研究反复使用静息态EO/EC、相似导联和固定切窗</a:t>
            </a:r>
            <a:endParaRPr sz="1725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23875" y="17335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记录条件</a:t>
            </a:r>
            <a:endParaRPr sz="12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3875" y="2143125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静息态 EO / EC</a:t>
            </a:r>
            <a:endParaRPr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38425" y="17335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导联设置</a:t>
            </a:r>
            <a:endParaRPr sz="12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38425" y="2143125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 / 31 / 32 / 64</a:t>
            </a:r>
            <a:endParaRPr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752975" y="17335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切窗长度</a:t>
            </a:r>
            <a:endParaRPr sz="12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752975" y="2143125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2–12 s</a:t>
            </a:r>
            <a:endParaRPr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67525" y="17335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常用特征</a:t>
            </a:r>
            <a:endParaRPr sz="12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67525" y="2143125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PSD、连接、复杂度</a:t>
            </a:r>
            <a:endParaRPr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6750" y="3181350"/>
            <a:ext cx="7810500" cy="9525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09625" y="3381375"/>
            <a:ext cx="7524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这些选择提供了可比较的输入条件，但不能回答哪些因素真正支撑分类。</a:t>
            </a:r>
            <a:endParaRPr sz="1650" b="1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4010025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0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研究问题：哪些频段、电极和特征在不同被试划分及公开数据集上保持不可替代贡献？</a:t>
            </a:r>
            <a:endParaRPr sz="1425" b="0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公开数据集上的三个实际问题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95300" y="1219200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50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95300" y="161925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7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模型可能认错目标</a:t>
            </a:r>
            <a:endParaRPr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5300" y="2152650"/>
            <a:ext cx="2286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各数据集的电极、采样率和睁闭眼条件不同。模型可能在识别数据来自哪里，而不是识别疾病。</a:t>
            </a:r>
            <a:endParaRPr sz="135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24225" y="1219200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50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24225" y="161925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7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同一个人可能被看两次</a:t>
            </a:r>
            <a:endParaRPr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24225" y="2152650"/>
            <a:ext cx="2286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如果同一人的部分片段用于训练，其他片段用于测试，模型可能记住这个人，成绩会虚高。</a:t>
            </a:r>
            <a:endParaRPr sz="135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53150" y="1219200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50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53150" y="1619250"/>
            <a:ext cx="2333625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7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片段分对不等于患者分对</a:t>
            </a:r>
            <a:endParaRPr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53150" y="2152650"/>
            <a:ext cx="2286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模型能分对很多短片段，不代表它能正确判断一名从未见过的新患者。</a:t>
            </a:r>
            <a:endParaRPr sz="135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95300" y="3695700"/>
            <a:ext cx="8153400" cy="9525"/>
          </a:xfrm>
          <a:prstGeom prst="rect">
            <a:avLst/>
          </a:prstGeom>
          <a:solidFill>
            <a:srgbClr val="C9D7DF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90550" y="39052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2B8A7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2B8A7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主实验：按被试划分公开数据</a:t>
            </a:r>
            <a:endParaRPr sz="1425" b="1">
              <a:solidFill>
                <a:srgbClr val="2B8A7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9575" y="1181100"/>
            <a:ext cx="57150" cy="4953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0550" y="114300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275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85850" y="12668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研究背景</a:t>
            </a:r>
            <a:endParaRPr sz="16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800350" y="127508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公开数据上的问题与挑战</a:t>
            </a:r>
            <a:endParaRPr sz="1275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0" y="192405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14425" y="204787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研究现状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800350" y="202692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分类范式与证据缺口</a:t>
            </a:r>
            <a:endParaRPr sz="1275" b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90550" y="270510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85850" y="28289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代表方法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829560" y="277876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LEAD与本项目框架</a:t>
            </a:r>
            <a:endParaRPr sz="127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90550" y="348615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123950" y="360997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后续工作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828925" y="36099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公开数据提升与外部验证</a:t>
            </a:r>
            <a:endParaRPr sz="127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现有EEG疾病识别方法与证据缺口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28625" y="1095375"/>
          <a:ext cx="8286750" cy="2476500"/>
        </p:xfrm>
        <a:graphic>
          <a:graphicData uri="http://schemas.openxmlformats.org/drawingml/2006/table">
            <a:tbl>
              <a:tblPr/>
              <a:tblGrid>
                <a:gridCol w="1381125"/>
                <a:gridCol w="2476500"/>
                <a:gridCol w="2333625"/>
                <a:gridCol w="2095500"/>
              </a:tblGrid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方法范式</a:t>
                      </a:r>
                      <a:endParaRPr sz="12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主要表示</a:t>
                      </a:r>
                      <a:endParaRPr sz="12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优势</a:t>
                      </a:r>
                      <a:endParaRPr sz="12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solidFill>
                      <a:srgbClr val="24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与本项目的缺口</a:t>
                      </a:r>
                      <a:endParaRPr sz="12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anchor="ctr">
                    <a:solidFill>
                      <a:srgbClr val="24374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手工特征</a:t>
                      </a:r>
                      <a:endParaRPr sz="1200" b="1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PSD、相对功率、连接、熵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含义明确，适合小样本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依赖特征选择，跨数据集稳定性有限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监督深度模型</a:t>
                      </a:r>
                      <a:endParaRPr sz="1200" b="1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CNN、EEGNet、Conformer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自动学习时空模式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常在单数据集内评估，解释结果不一致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EEG预训练模型</a:t>
                      </a:r>
                      <a:endParaRPr sz="1200" b="1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>
                    <a:solidFill>
                      <a:srgbClr val="E9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LEAD</a:t>
                      </a:r>
                      <a:r>
                        <a:rPr lang="zh-CN"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为主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利用大规模无标签或多数据集表示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F2937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仍需验证疾病级迁移和关键因素的可重复性</a:t>
                      </a:r>
                      <a:endParaRPr sz="1125">
                        <a:solidFill>
                          <a:srgbClr val="1F2937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76200" marR="76200" marT="47625" marB="47625" anchor="ctr"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19125" y="3886200"/>
            <a:ext cx="790575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现有方法关注“能否分类”；本项目</a:t>
            </a:r>
            <a:r>
              <a:rPr lang="zh-CN" sz="120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希望</a:t>
            </a:r>
            <a:r>
              <a:rPr sz="120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进一步检验“哪些信息稳定贡献，并带来公开数据集上的提升”。</a:t>
            </a:r>
            <a:endParaRPr sz="1200" b="1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9575" y="1181100"/>
            <a:ext cx="57150" cy="4953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0550" y="114300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275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85850" y="12668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研究背景</a:t>
            </a:r>
            <a:endParaRPr sz="16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800350" y="127508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公开数据上的问题与挑战</a:t>
            </a:r>
            <a:endParaRPr sz="1275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0" y="192405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14425" y="204787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研究现状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800350" y="202692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分类范式与证据缺口</a:t>
            </a:r>
            <a:endParaRPr sz="1275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90550" y="270510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85850" y="282892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代表方法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829560" y="277876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LEAD与本项目框架</a:t>
            </a:r>
            <a:endParaRPr sz="1275" b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90550" y="3486150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123950" y="3609975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后续工作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828925" y="36099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公开数据提升与外部验证</a:t>
            </a:r>
            <a:endParaRPr sz="127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框架动机：从异构输入到稳定贡献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9810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研究缺口</a:t>
            </a:r>
            <a:endParaRPr sz="13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91125" y="98107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框架响应</a:t>
            </a:r>
            <a:endParaRPr sz="13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428750"/>
            <a:ext cx="7810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问题一</a:t>
            </a:r>
            <a:endParaRPr sz="12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76375" y="1428750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公开EEG数据的通道与采样率不同</a:t>
            </a:r>
            <a:endParaRPr sz="13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67250" y="1428750"/>
            <a:ext cx="381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325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191125" y="1428750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LEAD的通道位置与采样率嵌入</a:t>
            </a:r>
            <a:endParaRPr sz="13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2114550"/>
            <a:ext cx="7715250" cy="9525"/>
          </a:xfrm>
          <a:prstGeom prst="rect">
            <a:avLst/>
          </a:prstGeom>
          <a:solidFill>
            <a:srgbClr val="C9D7DF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2305050"/>
            <a:ext cx="7810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问题二</a:t>
            </a:r>
            <a:endParaRPr sz="12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76375" y="2305050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疾病标签属于被试，而非单个短片段</a:t>
            </a:r>
            <a:endParaRPr sz="13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67250" y="2305050"/>
            <a:ext cx="381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325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191125" y="2305050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样本级与被试级联合学习和评价</a:t>
            </a:r>
            <a:endParaRPr sz="13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9125" y="2990850"/>
            <a:ext cx="7715250" cy="9525"/>
          </a:xfrm>
          <a:prstGeom prst="rect">
            <a:avLst/>
          </a:prstGeom>
          <a:solidFill>
            <a:srgbClr val="C9D7DF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9125" y="3181350"/>
            <a:ext cx="7810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问题三</a:t>
            </a:r>
            <a:endParaRPr sz="12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76375" y="3181350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高性能仍不能说明关键频段与电极</a:t>
            </a:r>
            <a:endParaRPr sz="13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67250" y="3181350"/>
            <a:ext cx="381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32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32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325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91125" y="3181350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403"/>
          </a:bodyPr>
          <a:lstStyle/>
          <a:p>
            <a:pPr algn="l">
              <a:def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加入配对消融、频段门控和稳定性统计</a:t>
            </a:r>
            <a:endParaRPr sz="13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" y="4162425"/>
            <a:ext cx="7810500" cy="4381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设计原则：先建立可复现的LEAD基线，再用受控变量实验定位贡献，最后验证改进是否跨公开数据集成立。</a:t>
            </a:r>
            <a:endParaRPr sz="1200" b="1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LEAD主干与本项目扩展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1392432"/>
            <a:ext cx="5381625" cy="2168137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5953125" y="1123950"/>
            <a:ext cx="38100" cy="26670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38875" y="112395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保留的LEAD能力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571625"/>
            <a:ext cx="24765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时间与空间联合编码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异构通道和采样率适配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被试级损失与预测聚合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38875" y="2895600"/>
            <a:ext cx="2381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新增实验层</a:t>
            </a:r>
            <a:endParaRPr sz="1575" b="1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3333750"/>
            <a:ext cx="257175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五频段输入与band embedding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频段、电极和特征配对消融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公开数据集上的跨折稳定性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公开数据集是模型提升的主评测场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7" name="Chart"/>
          <p:cNvGraphicFramePr/>
          <p:nvPr/>
        </p:nvGraphicFramePr>
        <p:xfrm>
          <a:off x="428625" y="1095375"/>
          <a:ext cx="4524375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381625" y="106680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当前进展</a:t>
            </a:r>
            <a:endParaRPr sz="1575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334000" y="1476375"/>
            <a:ext cx="3333750" cy="1238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APAVA完成5次复现，被试级AUROC 90.00%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RepOD完成5次MCCV，被试级AUROC 56.67%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RepOD结果提示跨疾病迁移仍需优化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381625" y="285750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75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后续比较</a:t>
            </a:r>
            <a:endParaRPr sz="1575" b="1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0" y="3267075"/>
            <a:ext cx="333375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原始LEAD、随机初始化与传统基线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单频段、删频段及MultiBand-LEAD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15900" indent="-101600">
              <a:spcAft>
                <a:spcPts val="500"/>
              </a:spcAft>
              <a:buChar char="•"/>
              <a:def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同一被试折上比较AUROC与macro-F1</a:t>
            </a:r>
            <a:endParaRPr sz="1275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3875" y="4219575"/>
            <a:ext cx="8096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12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两组数据疾病和规模不同，图中结果只表示阶段进展，不作数据集间优劣比较。</a:t>
            </a:r>
            <a:endParaRPr sz="1125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9575" y="1181100"/>
            <a:ext cx="57150" cy="4953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0550" y="1148715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275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85850" y="127254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研究背景</a:t>
            </a:r>
            <a:endParaRPr sz="16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800350" y="128079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公开数据上的问题与挑战</a:t>
            </a:r>
            <a:endParaRPr sz="1275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0" y="1929765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14425" y="205359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研究现状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800350" y="203263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分类范式与证据缺口</a:t>
            </a:r>
            <a:endParaRPr sz="1275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90550" y="2710815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085850" y="283464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代表方法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829560" y="27844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LEAD与本项目框架</a:t>
            </a:r>
            <a:endParaRPr sz="1275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90550" y="3491865"/>
            <a:ext cx="4953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>
                <a:solidFill>
                  <a:srgbClr val="56616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275" b="1">
              <a:solidFill>
                <a:srgbClr val="56616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123950" y="361569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后续工作</a:t>
            </a:r>
            <a:endParaRPr sz="1650" b="1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828925" y="361569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75" b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公开数据提升与外部验证</a:t>
            </a:r>
            <a:endParaRPr sz="1275" b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72390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后续实验路线与验证层级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52425" y="12382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35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52425" y="1657350"/>
            <a:ext cx="1381125" cy="381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52425" y="1838325"/>
            <a:ext cx="1428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公开数据基线</a:t>
            </a:r>
            <a:endParaRPr sz="1425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2425" y="2343150"/>
            <a:ext cx="14287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固定被试划分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复现LEAD与传统基线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752600" y="1695450"/>
            <a:ext cx="2667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787"/>
          </a:bodyPr>
          <a:lstStyle/>
          <a:p>
            <a:pPr algn="ctr">
              <a:defRPr sz="2100" b="1">
                <a:solidFill>
                  <a:srgbClr val="C9D7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C9D7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100" b="1">
              <a:solidFill>
                <a:srgbClr val="C9D7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76450" y="12382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35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076450" y="1657350"/>
            <a:ext cx="1381125" cy="381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076450" y="1838325"/>
            <a:ext cx="1428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因素筛选</a:t>
            </a:r>
            <a:endParaRPr sz="1425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076450" y="2343150"/>
            <a:ext cx="14287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单频段与删频段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电极和特征消融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476625" y="1695450"/>
            <a:ext cx="2667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787"/>
          </a:bodyPr>
          <a:lstStyle/>
          <a:p>
            <a:pPr algn="ctr">
              <a:defRPr sz="2100" b="1">
                <a:solidFill>
                  <a:srgbClr val="C9D7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C9D7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100" b="1">
              <a:solidFill>
                <a:srgbClr val="C9D7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00475" y="12382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35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800475" y="1657350"/>
            <a:ext cx="1381125" cy="381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800475" y="1838325"/>
            <a:ext cx="1428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模型提升</a:t>
            </a:r>
            <a:endParaRPr sz="1425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00475" y="2343150"/>
            <a:ext cx="14287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频段门控融合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MultiBand-LEAD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00650" y="1695450"/>
            <a:ext cx="2667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787"/>
          </a:bodyPr>
          <a:lstStyle/>
          <a:p>
            <a:pPr algn="ctr">
              <a:defRPr sz="2100" b="1">
                <a:solidFill>
                  <a:srgbClr val="C9D7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C9D7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100" b="1">
              <a:solidFill>
                <a:srgbClr val="C9D7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24500" y="12382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2196D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1350" b="1">
              <a:solidFill>
                <a:srgbClr val="2196D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0" y="1657350"/>
            <a:ext cx="1381125" cy="381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524500" y="1838325"/>
            <a:ext cx="1428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公开集验证</a:t>
            </a:r>
            <a:endParaRPr sz="1425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0" y="2343150"/>
            <a:ext cx="14287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跨数据集与多种子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确认提升和排名稳定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24675" y="1695450"/>
            <a:ext cx="2667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787"/>
          </a:bodyPr>
          <a:lstStyle/>
          <a:p>
            <a:pPr algn="ctr">
              <a:defRPr sz="2100" b="1">
                <a:solidFill>
                  <a:srgbClr val="C9D7D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C9D7D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100" b="1">
              <a:solidFill>
                <a:srgbClr val="C9D7D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248525" y="1238250"/>
            <a:ext cx="428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C53D35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C53D35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1350" b="1">
              <a:solidFill>
                <a:srgbClr val="C53D35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48525" y="1657350"/>
            <a:ext cx="1381125" cy="38100"/>
          </a:xfrm>
          <a:prstGeom prst="rect">
            <a:avLst/>
          </a:prstGeom>
          <a:solidFill>
            <a:srgbClr val="C53D35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48525" y="1838325"/>
            <a:ext cx="1428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25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医院外部验证</a:t>
            </a:r>
            <a:endParaRPr sz="1425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248525" y="2343150"/>
            <a:ext cx="14287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模型定型后一次验证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def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200" b="0">
                <a:solidFill>
                  <a:srgbClr val="5661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不参与调参</a:t>
            </a:r>
            <a:endParaRPr sz="1200" b="0">
              <a:solidFill>
                <a:srgbClr val="56616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57200" y="3571875"/>
            <a:ext cx="8096250" cy="9525"/>
          </a:xfrm>
          <a:prstGeom prst="rect">
            <a:avLst/>
          </a:prstGeom>
          <a:solidFill>
            <a:srgbClr val="C9D7DF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19125" y="3733800"/>
            <a:ext cx="7810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35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关键验收：相同公开数据、相同被试折和相同评价指标下，</a:t>
            </a:r>
            <a:r>
              <a:rPr lang="zh-CN" sz="135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</a:t>
            </a:r>
            <a:r>
              <a:rPr sz="1350" b="1">
                <a:solidFill>
                  <a:srgbClr val="C53D3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MultiBand-LEAD稳定优于原始LEAD。</a:t>
            </a:r>
            <a:endParaRPr sz="1350" b="1">
              <a:solidFill>
                <a:srgbClr val="C53D35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704850"/>
            <a:ext cx="9144000" cy="1905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07315" y="737870"/>
            <a:ext cx="9144000" cy="4076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90500" y="114300"/>
            <a:ext cx="6905625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21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总结</a:t>
            </a:r>
            <a:endParaRPr sz="21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12382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研究主线</a:t>
            </a:r>
            <a:endParaRPr sz="1500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333625" y="121920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548"/>
          </a:bodyPr>
          <a:lstStyle/>
          <a:p>
            <a:pPr algn="l">
              <a:def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在公开数据集上提升LEAD，并定位稳定贡献分类的频段、电极和特征。</a:t>
            </a:r>
            <a:endParaRPr sz="165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57250" y="20955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验证边界</a:t>
            </a:r>
            <a:endParaRPr sz="1500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333625" y="207645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医院数据用于最终外部验证，不驱动框架设计和模型选择。</a:t>
            </a:r>
            <a:endParaRPr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57250" y="295275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500" b="1">
                <a:solidFill>
                  <a:srgbClr val="2196D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核心模型</a:t>
            </a:r>
            <a:endParaRPr sz="1500" b="1">
              <a:solidFill>
                <a:srgbClr val="2196D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333625" y="293370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65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pPr>
            <a:r>
              <a:rPr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LEAD承担全部主实验</a:t>
            </a:r>
            <a:r>
              <a:rPr lang="zh-CN" sz="1400" b="1">
                <a:solidFill>
                  <a:srgbClr val="1F293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sz="1400" b="1">
              <a:solidFill>
                <a:srgbClr val="1F2937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43250" y="394335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00" b="1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 you</a:t>
            </a:r>
            <a:endParaRPr sz="2100" b="1">
              <a:solidFill>
                <a:srgbClr val="1F293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96250" y="4800600"/>
            <a:ext cx="809625" cy="342900"/>
          </a:xfrm>
          <a:prstGeom prst="rect">
            <a:avLst/>
          </a:prstGeom>
          <a:solidFill>
            <a:srgbClr val="2196D2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86750" y="4829175"/>
            <a:ext cx="4572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r">
              <a:def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5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1050" b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4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5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6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7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8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9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0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1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2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3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4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5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6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7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8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19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0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1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2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3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4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5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6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7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8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29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0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1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2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3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4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5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6.xml><?xml version="1.0" encoding="utf-8"?>
<p:tagLst xmlns:p="http://schemas.openxmlformats.org/presentationml/2006/main">
  <p:tag name="KSO_WM_DIAGRAM_VIRTUALLY_FRAME" val="{&quot;height&quot;:228,&quot;left&quot;:46.5,&quot;top&quot;:90,&quot;width&quot;:606}"/>
</p:tagLst>
</file>

<file path=ppt/tags/tag37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38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39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0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1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2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3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4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5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6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7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8.xml><?xml version="1.0" encoding="utf-8"?>
<p:tagLst xmlns:p="http://schemas.openxmlformats.org/presentationml/2006/main">
  <p:tag name="KSO_WM_DIAGRAM_VIRTUALLY_FRAME" val="{&quot;height&quot;:228,&quot;left&quot;:46.5,&quot;top&quot;:90.45,&quot;width&quot;:606}"/>
</p:tagLst>
</file>

<file path=ppt/tags/tag49.xml><?xml version="1.0" encoding="utf-8"?>
<p:tagLst xmlns:p="http://schemas.openxmlformats.org/presentationml/2006/main">
  <p:tag name="KSO_WM_DIAGRAM_VIRTUALLY_FRAME" val="{&quot;height&quot;:103.5,&quot;left&quot;:67.5,&quot;top&quot;:163.5,&quot;width&quot;:581.25}"/>
</p:tagLst>
</file>

<file path=ppt/tags/tag50.xml><?xml version="1.0" encoding="utf-8"?>
<p:tagLst xmlns:p="http://schemas.openxmlformats.org/presentationml/2006/main">
  <p:tag name="KSO_WM_DIAGRAM_VIRTUALLY_FRAME" val="{&quot;height&quot;:103.5,&quot;left&quot;:67.5,&quot;top&quot;:163.5,&quot;width&quot;:581.25}"/>
</p:tagLst>
</file>

<file path=ppt/tags/tag51.xml><?xml version="1.0" encoding="utf-8"?>
<p:tagLst xmlns:p="http://schemas.openxmlformats.org/presentationml/2006/main">
  <p:tag name="KSO_WM_DIAGRAM_VIRTUALLY_FRAME" val="{&quot;height&quot;:103.5,&quot;left&quot;:67.5,&quot;top&quot;:163.5,&quot;width&quot;:581.25}"/>
</p:tagLst>
</file>

<file path=ppt/tags/tag52.xml><?xml version="1.0" encoding="utf-8"?>
<p:tagLst xmlns:p="http://schemas.openxmlformats.org/presentationml/2006/main">
  <p:tag name="KSO_WM_DIAGRAM_VIRTUALLY_FRAME" val="{&quot;height&quot;:103.5,&quot;left&quot;:67.5,&quot;top&quot;:163.5,&quot;width&quot;:581.2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1694</Words>
  <Application>WPS 演示</Application>
  <PresentationFormat>Converted Presentation</PresentationFormat>
  <Paragraphs>346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WPS_1687824760</cp:lastModifiedBy>
  <cp:revision>1</cp:revision>
  <dcterms:created xsi:type="dcterms:W3CDTF">2026-09-15T02:50:46Z</dcterms:created>
  <dcterms:modified xsi:type="dcterms:W3CDTF">2026-09-15T02:50:46Z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388BD72A14E245078F11BB0368EC36DF_12</vt:lpwstr>
  </property>
</Properties>
</file>