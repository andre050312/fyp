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51435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片段级 AUROC</c:f>
              <c:strCache>
                <c:ptCount val="1"/>
                <c:pt idx="0">
                  <c:v>片段级 AUROC</c:v>
                </c:pt>
              </c:strCache>
            </c:strRef>
          </c:tx>
          <c:spPr>
            <a:solidFill>
              <a:srgbClr val="2196D2"/>
            </a:solidFill>
          </c:spPr>
          <c:invertIfNegative val="0"/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{"APAVA（AD）","RepOD（SZ）"}</c:f>
              <c:strCache>
                <c:ptCount val="2"/>
                <c:pt idx="0">
                  <c:v>APAVA（AD）</c:v>
                </c:pt>
                <c:pt idx="1">
                  <c:v>RepOD（SZ）</c:v>
                </c:pt>
              </c:strCache>
            </c:strRef>
          </c:cat>
          <c:val>
            <c:numRef>
              <c:f>{0.919,0.6489}</c:f>
              <c:numCache>
                <c:formatCode>0%</c:formatCode>
                <c:ptCount val="2"/>
                <c:pt idx="0">
                  <c:v>0.919</c:v>
                </c:pt>
                <c:pt idx="1">
                  <c:v>0.6489</c:v>
                </c:pt>
              </c:numCache>
            </c:numRef>
          </c:val>
        </c:ser>
        <c:ser>
          <c:idx val="1"/>
          <c:order val="1"/>
          <c:tx>
            <c:strRef>
              <c:f>被试级 AUROC</c:f>
              <c:strCache>
                <c:ptCount val="1"/>
                <c:pt idx="0">
                  <c:v>被试级 AUROC</c:v>
                </c:pt>
              </c:strCache>
            </c:strRef>
          </c:tx>
          <c:spPr>
            <a:solidFill>
              <a:srgbClr val="D49A22"/>
            </a:solidFill>
          </c:spPr>
          <c:invertIfNegative val="0"/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{"APAVA（AD）","RepOD（SZ）"}</c:f>
              <c:strCache>
                <c:ptCount val="2"/>
                <c:pt idx="0">
                  <c:v>APAVA（AD）</c:v>
                </c:pt>
                <c:pt idx="1">
                  <c:v>RepOD（SZ）</c:v>
                </c:pt>
              </c:strCache>
            </c:strRef>
          </c:cat>
          <c:val>
            <c:numRef>
              <c:f>{0.9,0.5667}</c:f>
              <c:numCache>
                <c:formatCode>0%</c:formatCode>
                <c:ptCount val="2"/>
                <c:pt idx="0">
                  <c:v>0.9</c:v>
                </c:pt>
                <c:pt idx="1">
                  <c:v>0.5667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rgbClr val="666666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numFmt formatCode="0%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rgbClr val="666666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</a:p>
        </c:txPr>
        <c:crossAx val="48650112"/>
        <c:crosses val="autoZero"/>
        <c:crossBetween val="between"/>
        <c:majorUnit val="0.2"/>
      </c:valAx>
      <c:spPr>
        <a:solidFill>
          <a:srgbClr val="FFFFFF"/>
        </a:solidFill>
        <a:ln w="9525">
          <a:solidFill>
            <a:srgbClr val="C9D7DF"/>
          </a:solidFill>
        </a:ln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1000" b="0" i="0" u="none" strike="noStrike" kern="1200" baseline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1f955c3-3980-4f8a-aa60-de3acdb0f9d0}"/>
      </c:ext>
    </c:extLst>
  </c:chart>
  <c:spPr>
    <a:solidFill>
      <a:srgbClr val="FFFFFF"/>
    </a:solidFill>
    <a:ln w="0"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本页使用用户提供的调研汇报模板。研究主线：公开数据集上的可复现性能提升；医院数据仅作后续外部验证。主模型为LEAD。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来源：用户提供的EEG文章筛选.xlsx与现有FYP版本1。共同输入条件属于文献观察，不代表因果或决定性证据。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研究范围由用户确认：医院数据仅作后续实验验证，项目重点是公开数据集上的性能提升。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来源：EEG文章筛选.xlsx、LEAD论文与FYP版本1中的方法综述。LaBraM仅在此作为预训练模型类别示例。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LEAD技术依据来自本地论文2502.01678v4.pdf和C:/Users/ROG/Desktop/LEAD代码。第三项为本项目在LEAD基础上的研究扩展。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图片来源：C:/Users/ROG/Desktop/LEAD/figs/lead_pipeline.png，来自LEAD项目。模型主体固定为LEAD。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数据来源：C:/Users/ROG/Desktop/LEAD/results/LEADv2/finetune/LEADv2/P-Base-F-APAVA-Multi/results.txt；C:/Users/ROG/Desktop/LEAD/results/LEADv2/finetune/LEADv2/P-Base-F-RepOD-MCCV/results.txt。APAVA：片段级AUROC 91.90%，被试级AUROC 90.00%。RepOD：片段级AUROC 64.89%，被试级AUROC 56.67%。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医院数据仅作为模型定型后的外部实验验证。LaBraM不进入主线开发，仅作为末期可选的模型独立性复核。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汇报结束。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4" Type="http://schemas.openxmlformats.org/officeDocument/2006/relationships/notesSlide" Target="../notesSlides/notesSlide2.xml"/><Relationship Id="rId13" Type="http://schemas.openxmlformats.org/officeDocument/2006/relationships/slideLayout" Target="../slideLayouts/slideLayout1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21.xml"/><Relationship Id="rId8" Type="http://schemas.openxmlformats.org/officeDocument/2006/relationships/tags" Target="../tags/tag20.xml"/><Relationship Id="rId7" Type="http://schemas.openxmlformats.org/officeDocument/2006/relationships/tags" Target="../tags/tag19.xml"/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1" Type="http://schemas.openxmlformats.org/officeDocument/2006/relationships/notesSlide" Target="../notesSlides/notesSlide4.xml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矩形 10"/>
          <p:cNvSpPr>
            <a:spLocks noGrp="1"/>
          </p:cNvSpPr>
          <p:nvPr/>
        </p:nvSpPr>
        <p:spPr>
          <a:xfrm>
            <a:off x="0" y="704850"/>
            <a:ext cx="9144000" cy="1905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0"/>
            <a:ext cx="9144000" cy="4800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23875" y="1219200"/>
            <a:ext cx="66675" cy="16002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838200" y="1095375"/>
            <a:ext cx="7239000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8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28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基于 LEAD 的多疾病 EEG</a:t>
            </a:r>
            <a:endParaRPr sz="285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defRPr sz="28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28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关键因素筛选</a:t>
            </a:r>
            <a:endParaRPr sz="285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857250" y="2400300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5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公开数据集性能提升与电极、频段、特征的稳定贡献</a:t>
            </a:r>
            <a:endParaRPr sz="1575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096250" y="4800600"/>
            <a:ext cx="809625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8286750" y="4829175"/>
            <a:ext cx="4572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667"/>
          </a:bodyPr>
          <a:lstStyle/>
          <a:p>
            <a:pPr algn="r">
              <a:def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01</a:t>
            </a:r>
            <a:endParaRPr sz="1050" b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矩形 19"/>
          <p:cNvSpPr>
            <a:spLocks noGrp="1"/>
          </p:cNvSpPr>
          <p:nvPr/>
        </p:nvSpPr>
        <p:spPr>
          <a:xfrm>
            <a:off x="0" y="704850"/>
            <a:ext cx="9144000" cy="1905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723900"/>
            <a:ext cx="9144000" cy="4076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90500" y="114300"/>
            <a:ext cx="69056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CONTENTS</a:t>
            </a:r>
            <a:endParaRPr sz="210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09575" y="1181100"/>
            <a:ext cx="57150" cy="4953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6" name="矩形 5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590550" y="1143000"/>
            <a:ext cx="4953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01</a:t>
            </a:r>
            <a:endParaRPr sz="1275" b="1">
              <a:solidFill>
                <a:srgbClr val="2196D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" name="矩形 6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1114425" y="1266825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848"/>
          </a:bodyPr>
          <a:lstStyle/>
          <a:p>
            <a:pPr algn="l">
              <a:defRPr sz="16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6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研究背景</a:t>
            </a:r>
            <a:endParaRPr sz="165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8" name="矩形 7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2857500" y="1275080"/>
            <a:ext cx="5334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C53D3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0">
                <a:solidFill>
                  <a:srgbClr val="C53D3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公开数据上的问题与挑战</a:t>
            </a:r>
            <a:endParaRPr sz="1275" b="0">
              <a:solidFill>
                <a:srgbClr val="C53D35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9" name="矩形 8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590550" y="1924050"/>
            <a:ext cx="4953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1275" b="1">
              <a:solidFill>
                <a:srgbClr val="56616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1085850" y="2047875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848"/>
          </a:bodyPr>
          <a:lstStyle/>
          <a:p>
            <a:pPr algn="l">
              <a:def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研究现状</a:t>
            </a:r>
            <a:endParaRPr sz="1650" b="1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1" name="矩形 10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2857500" y="2047875"/>
            <a:ext cx="5334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分类范式与证据缺口</a:t>
            </a:r>
            <a:endParaRPr sz="1275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2" name="矩形 11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590550" y="2705100"/>
            <a:ext cx="4953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1275" b="1">
              <a:solidFill>
                <a:srgbClr val="56616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矩形 12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1085850" y="2828925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848"/>
          </a:bodyPr>
          <a:lstStyle/>
          <a:p>
            <a:pPr algn="l">
              <a:def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代表方法</a:t>
            </a:r>
            <a:endParaRPr sz="1650" b="1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4" name="矩形 13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2857500" y="2859405"/>
            <a:ext cx="5334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LEAD与本项目框架</a:t>
            </a:r>
            <a:endParaRPr sz="1275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5" name="矩形 14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590550" y="3486150"/>
            <a:ext cx="4953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04</a:t>
            </a:r>
            <a:endParaRPr sz="1275" b="1">
              <a:solidFill>
                <a:srgbClr val="56616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矩形 15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1108710" y="3609975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848"/>
          </a:bodyPr>
          <a:lstStyle/>
          <a:p>
            <a:pPr algn="l">
              <a:def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后续工作</a:t>
            </a:r>
            <a:endParaRPr sz="1650" b="1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7" name="矩形 16"/>
          <p:cNvSpPr>
            <a:spLocks noGrp="1"/>
          </p:cNvSpPr>
          <p:nvPr>
            <p:custDataLst>
              <p:tags r:id="rId12"/>
            </p:custDataLst>
          </p:nvPr>
        </p:nvSpPr>
        <p:spPr>
          <a:xfrm>
            <a:off x="2846705" y="3609975"/>
            <a:ext cx="5334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公开数据提升与外部验证</a:t>
            </a:r>
            <a:endParaRPr sz="1275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8096250" y="4800600"/>
            <a:ext cx="809625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8286750" y="4829175"/>
            <a:ext cx="4572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667"/>
          </a:bodyPr>
          <a:lstStyle/>
          <a:p>
            <a:pPr algn="r">
              <a:def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1050" b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矩形 18"/>
          <p:cNvSpPr>
            <a:spLocks noGrp="1"/>
          </p:cNvSpPr>
          <p:nvPr/>
        </p:nvSpPr>
        <p:spPr>
          <a:xfrm>
            <a:off x="0" y="704850"/>
            <a:ext cx="9144000" cy="1905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723900"/>
            <a:ext cx="9144000" cy="4076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90500" y="114300"/>
            <a:ext cx="69056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EEG疾病识别中的共同输入</a:t>
            </a:r>
            <a:endParaRPr sz="210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57200" y="895350"/>
            <a:ext cx="82296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7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多篇研究反复使用静息态EO/EC、相似导联和固定切窗</a:t>
            </a:r>
            <a:endParaRPr sz="1725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23875" y="173355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75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记录条件</a:t>
            </a:r>
            <a:endParaRPr sz="1275" b="1">
              <a:solidFill>
                <a:srgbClr val="2196D2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23875" y="2143125"/>
            <a:ext cx="17145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4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静息态 EO / EC</a:t>
            </a:r>
            <a:endParaRPr sz="1425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638425" y="173355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75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导联设置</a:t>
            </a:r>
            <a:endParaRPr sz="1275" b="1">
              <a:solidFill>
                <a:srgbClr val="2196D2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638425" y="2143125"/>
            <a:ext cx="17145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4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19 / 31 / 32 / 64</a:t>
            </a:r>
            <a:endParaRPr sz="1425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752975" y="173355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75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切窗长度</a:t>
            </a:r>
            <a:endParaRPr sz="1275" b="1">
              <a:solidFill>
                <a:srgbClr val="2196D2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752975" y="2143125"/>
            <a:ext cx="17145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4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2–12 s</a:t>
            </a:r>
            <a:endParaRPr sz="1425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867525" y="173355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75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常用特征</a:t>
            </a:r>
            <a:endParaRPr sz="1275" b="1">
              <a:solidFill>
                <a:srgbClr val="2196D2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867525" y="2143125"/>
            <a:ext cx="17145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4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PSD、连接、复杂度</a:t>
            </a:r>
            <a:endParaRPr sz="1425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66750" y="3181350"/>
            <a:ext cx="7810500" cy="9525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09625" y="3381375"/>
            <a:ext cx="7524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C53D3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650" b="1">
                <a:solidFill>
                  <a:srgbClr val="C53D3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这些选择提供了可比较的输入条件，但不能回答哪些因素真正支撑分类。</a:t>
            </a:r>
            <a:endParaRPr sz="1650" b="1">
              <a:solidFill>
                <a:srgbClr val="C53D35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57250" y="4010025"/>
            <a:ext cx="74295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0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425" b="0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研究问题：哪些频段、电极和特征在不同被试划分及公开数据集上保持不可替代贡献？</a:t>
            </a:r>
            <a:endParaRPr sz="1425" b="0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096250" y="4800600"/>
            <a:ext cx="809625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8286750" y="4829175"/>
            <a:ext cx="4572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667"/>
          </a:bodyPr>
          <a:lstStyle/>
          <a:p>
            <a:pPr algn="r">
              <a:def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1050" b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矩形 18"/>
          <p:cNvSpPr>
            <a:spLocks noGrp="1"/>
          </p:cNvSpPr>
          <p:nvPr/>
        </p:nvSpPr>
        <p:spPr>
          <a:xfrm>
            <a:off x="0" y="704850"/>
            <a:ext cx="9144000" cy="1905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723900"/>
            <a:ext cx="9144000" cy="4076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90500" y="114300"/>
            <a:ext cx="69056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公开数据集上的三项核心挑战</a:t>
            </a:r>
            <a:endParaRPr sz="210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矩形 4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495300" y="1219200"/>
            <a:ext cx="571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01</a:t>
            </a:r>
            <a:endParaRPr sz="1500" b="1">
              <a:solidFill>
                <a:srgbClr val="2196D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矩形 5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495300" y="1619250"/>
            <a:ext cx="233362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7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数据异构</a:t>
            </a:r>
            <a:endParaRPr sz="1725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矩形 6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495300" y="2152650"/>
            <a:ext cx="2286000" cy="1190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lang="zh-CN" altLang="en-US" sz="135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当不同疾病分别来自不同数据集时，模型可能没有真正学习“疾病造成的</a:t>
            </a:r>
            <a:r>
              <a:rPr lang="en-US" altLang="zh-CN" sz="135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EEG</a:t>
            </a:r>
            <a:r>
              <a:rPr lang="zh-CN" altLang="en-US" sz="135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变化”，而是在利用数据集之间的采集差异进行分类。</a:t>
            </a:r>
            <a:endParaRPr lang="zh-CN" altLang="en-US" sz="1350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8" name="矩形 7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3324225" y="1219200"/>
            <a:ext cx="571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1500" b="1">
              <a:solidFill>
                <a:srgbClr val="2196D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矩形 8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3324225" y="1619250"/>
            <a:ext cx="233362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7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评价偏差</a:t>
            </a:r>
            <a:endParaRPr sz="1725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3324225" y="2152650"/>
            <a:ext cx="2286000" cy="1190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35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片段随机划分会造成被试泄漏，片段准确率也不能代替患者级性能。</a:t>
            </a:r>
            <a:endParaRPr sz="1350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1" name="矩形 10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6153150" y="1219200"/>
            <a:ext cx="571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1500" b="1">
              <a:solidFill>
                <a:srgbClr val="2196D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矩形 11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6153150" y="1619250"/>
            <a:ext cx="233362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7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解释不稳定</a:t>
            </a:r>
            <a:endParaRPr sz="1725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3" name="矩形 12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6153150" y="2152650"/>
            <a:ext cx="2286000" cy="1190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35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单次注意力或高准确率不足以证明某个频段、电极具有稳定贡献。</a:t>
            </a:r>
            <a:endParaRPr sz="1350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95300" y="3695700"/>
            <a:ext cx="8153400" cy="9525"/>
          </a:xfrm>
          <a:prstGeom prst="rect">
            <a:avLst/>
          </a:prstGeom>
          <a:solidFill>
            <a:srgbClr val="C9D7DF"/>
          </a:solidFill>
          <a:ln w="0">
            <a:noFill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590550" y="390525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B8A7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500" b="1">
                <a:solidFill>
                  <a:srgbClr val="2B8A7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主评测场：公开数据集</a:t>
            </a:r>
            <a:endParaRPr sz="1500" b="1">
              <a:solidFill>
                <a:srgbClr val="2B8A72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096250" y="4800600"/>
            <a:ext cx="809625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8286750" y="4829175"/>
            <a:ext cx="4572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667"/>
          </a:bodyPr>
          <a:lstStyle/>
          <a:p>
            <a:pPr algn="r">
              <a:def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04</a:t>
            </a:r>
            <a:endParaRPr sz="1050" b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矩形 19"/>
          <p:cNvSpPr>
            <a:spLocks noGrp="1"/>
          </p:cNvSpPr>
          <p:nvPr/>
        </p:nvSpPr>
        <p:spPr>
          <a:xfrm>
            <a:off x="0" y="704850"/>
            <a:ext cx="9144000" cy="1905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723900"/>
            <a:ext cx="9144000" cy="4076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90500" y="114300"/>
            <a:ext cx="69056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CONTENTS</a:t>
            </a:r>
            <a:endParaRPr sz="210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90550" y="1143000"/>
            <a:ext cx="4953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01</a:t>
            </a:r>
            <a:endParaRPr sz="1275" b="1">
              <a:solidFill>
                <a:srgbClr val="56616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23950" y="114300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848"/>
          </a:bodyPr>
          <a:lstStyle/>
          <a:p>
            <a:pPr algn="l">
              <a:def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研究背景</a:t>
            </a:r>
            <a:endParaRPr sz="1650" b="1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857500" y="1143000"/>
            <a:ext cx="5334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公开数据上的问题与挑战</a:t>
            </a:r>
            <a:endParaRPr sz="1275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409575" y="1962150"/>
            <a:ext cx="57150" cy="4953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90550" y="1924050"/>
            <a:ext cx="4953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1275" b="1">
              <a:solidFill>
                <a:srgbClr val="2196D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123950" y="192405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848"/>
          </a:bodyPr>
          <a:lstStyle/>
          <a:p>
            <a:pPr algn="l">
              <a:defRPr sz="16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6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研究现状</a:t>
            </a:r>
            <a:endParaRPr sz="165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2857500" y="1924050"/>
            <a:ext cx="5334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C53D3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0">
                <a:solidFill>
                  <a:srgbClr val="C53D3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分类范式与证据缺口</a:t>
            </a:r>
            <a:endParaRPr sz="1275" b="0">
              <a:solidFill>
                <a:srgbClr val="C53D35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90550" y="2705100"/>
            <a:ext cx="4953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1275" b="1">
              <a:solidFill>
                <a:srgbClr val="56616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123950" y="270510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848"/>
          </a:bodyPr>
          <a:lstStyle/>
          <a:p>
            <a:pPr algn="l">
              <a:def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代表方法</a:t>
            </a:r>
            <a:endParaRPr sz="1650" b="1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2857500" y="2705100"/>
            <a:ext cx="5334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LEAD与本项目框架</a:t>
            </a:r>
            <a:endParaRPr sz="1275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590550" y="3486150"/>
            <a:ext cx="4953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04</a:t>
            </a:r>
            <a:endParaRPr sz="1275" b="1">
              <a:solidFill>
                <a:srgbClr val="56616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123950" y="348615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848"/>
          </a:bodyPr>
          <a:lstStyle/>
          <a:p>
            <a:pPr algn="l">
              <a:def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后续工作</a:t>
            </a:r>
            <a:endParaRPr sz="1650" b="1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2857500" y="3486150"/>
            <a:ext cx="5334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公开数据提升与外部验证</a:t>
            </a:r>
            <a:endParaRPr sz="1275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8096250" y="4800600"/>
            <a:ext cx="809625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8286750" y="4829175"/>
            <a:ext cx="4572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667"/>
          </a:bodyPr>
          <a:lstStyle/>
          <a:p>
            <a:pPr algn="r">
              <a:def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05</a:t>
            </a:r>
            <a:endParaRPr sz="1050" b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矩形 8"/>
          <p:cNvSpPr>
            <a:spLocks noGrp="1"/>
          </p:cNvSpPr>
          <p:nvPr/>
        </p:nvSpPr>
        <p:spPr>
          <a:xfrm>
            <a:off x="0" y="704850"/>
            <a:ext cx="9144000" cy="1905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723900"/>
            <a:ext cx="9144000" cy="4076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90500" y="114300"/>
            <a:ext cx="69056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现有EEG疾病识别方法与证据缺口</a:t>
            </a:r>
            <a:endParaRPr sz="210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graphicFrame>
        <p:nvGraphicFramePr>
          <p:cNvPr id="13" name="表格 12"/>
          <p:cNvGraphicFramePr/>
          <p:nvPr/>
        </p:nvGraphicFramePr>
        <p:xfrm>
          <a:off x="428625" y="1095375"/>
          <a:ext cx="8286750" cy="2476500"/>
        </p:xfrm>
        <a:graphic>
          <a:graphicData uri="http://schemas.openxmlformats.org/drawingml/2006/table">
            <a:tbl>
              <a:tblPr/>
              <a:tblGrid>
                <a:gridCol w="1381125"/>
                <a:gridCol w="2476500"/>
                <a:gridCol w="2333625"/>
                <a:gridCol w="2095500"/>
              </a:tblGrid>
              <a:tr h="6191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方法范式</a:t>
                      </a:r>
                      <a:endParaRPr sz="1200" b="1">
                        <a:solidFill>
                          <a:srgbClr val="FFFFFF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anchor="ctr">
                    <a:solidFill>
                      <a:srgbClr val="2437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主要表示</a:t>
                      </a:r>
                      <a:endParaRPr sz="1200" b="1">
                        <a:solidFill>
                          <a:srgbClr val="FFFFFF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anchor="ctr">
                    <a:solidFill>
                      <a:srgbClr val="2437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优势</a:t>
                      </a:r>
                      <a:endParaRPr sz="1200" b="1">
                        <a:solidFill>
                          <a:srgbClr val="FFFFFF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anchor="ctr">
                    <a:solidFill>
                      <a:srgbClr val="2437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与本项目的缺口</a:t>
                      </a:r>
                      <a:endParaRPr sz="1200" b="1">
                        <a:solidFill>
                          <a:srgbClr val="FFFFFF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anchor="ctr">
                    <a:solidFill>
                      <a:srgbClr val="243746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手工特征</a:t>
                      </a:r>
                      <a:endParaRPr sz="1200" b="1">
                        <a:solidFill>
                          <a:srgbClr val="1F2937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76200" marR="76200" marT="47625" marB="47625" anchor="ctr">
                    <a:solidFill>
                      <a:srgbClr val="E9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F2937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PSD、相对功率、连接、熵</a:t>
                      </a:r>
                      <a:endParaRPr sz="1125">
                        <a:solidFill>
                          <a:srgbClr val="1F2937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76200" marR="76200" marT="47625" marB="4762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F2937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含义明确，适合小样本</a:t>
                      </a:r>
                      <a:endParaRPr sz="1125">
                        <a:solidFill>
                          <a:srgbClr val="1F2937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76200" marR="76200" marT="47625" marB="4762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F2937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依赖特征选择，跨数据集稳定性有限</a:t>
                      </a:r>
                      <a:endParaRPr sz="1125">
                        <a:solidFill>
                          <a:srgbClr val="1F2937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76200" marR="76200" marT="47625" marB="47625" anchor="ctr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监督深度模型</a:t>
                      </a:r>
                      <a:endParaRPr sz="1200" b="1">
                        <a:solidFill>
                          <a:srgbClr val="1F2937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76200" marR="76200" marT="47625" marB="47625" anchor="ctr">
                    <a:solidFill>
                      <a:srgbClr val="E9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F2937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CNN、EEGNet、Conformer</a:t>
                      </a:r>
                      <a:endParaRPr sz="1125">
                        <a:solidFill>
                          <a:srgbClr val="1F2937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76200" marR="76200" marT="47625" marB="4762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F2937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自动学习时空模式</a:t>
                      </a:r>
                      <a:endParaRPr sz="1125">
                        <a:solidFill>
                          <a:srgbClr val="1F2937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76200" marR="76200" marT="47625" marB="4762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F2937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常在单数据集内评估，解释结果不一致</a:t>
                      </a:r>
                      <a:endParaRPr sz="1125">
                        <a:solidFill>
                          <a:srgbClr val="1F2937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76200" marR="76200" marT="47625" marB="47625" anchor="ctr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EEG预训练模型</a:t>
                      </a:r>
                      <a:endParaRPr sz="1200" b="1">
                        <a:solidFill>
                          <a:srgbClr val="1F2937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76200" marR="76200" marT="47625" marB="47625" anchor="ctr">
                    <a:solidFill>
                      <a:srgbClr val="E9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F2937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LEAD、LaBraM等</a:t>
                      </a:r>
                      <a:endParaRPr sz="1125">
                        <a:solidFill>
                          <a:srgbClr val="1F2937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76200" marR="76200" marT="47625" marB="4762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F2937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利用大规模无标签或多数据集表示</a:t>
                      </a:r>
                      <a:endParaRPr sz="1125">
                        <a:solidFill>
                          <a:srgbClr val="1F2937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76200" marR="76200" marT="47625" marB="4762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F2937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仍需验证疾病级迁移和关键因素的可重复性</a:t>
                      </a:r>
                      <a:endParaRPr sz="1125">
                        <a:solidFill>
                          <a:srgbClr val="1F2937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76200" marR="76200" marT="47625" marB="47625" anchor="ctr"/>
                </a:tc>
              </a:tr>
            </a:tbl>
          </a:graphicData>
        </a:graphic>
      </p:graphicFrame>
      <p:sp>
        <p:nvSpPr>
          <p:cNvPr id="6" name="矩形 5"/>
          <p:cNvSpPr>
            <a:spLocks noGrp="1"/>
          </p:cNvSpPr>
          <p:nvPr/>
        </p:nvSpPr>
        <p:spPr>
          <a:xfrm>
            <a:off x="619125" y="3886200"/>
            <a:ext cx="7905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368"/>
          </a:bodyPr>
          <a:lstStyle/>
          <a:p>
            <a:pPr algn="ctr">
              <a:defRPr sz="1425" b="1">
                <a:solidFill>
                  <a:srgbClr val="C53D3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425" b="1">
                <a:solidFill>
                  <a:srgbClr val="C53D3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现有方法关注“能否分类”；本项目进一步检验“哪些信息稳定贡献，并带来公开数据集上的提升”。</a:t>
            </a:r>
            <a:endParaRPr sz="1425" b="1">
              <a:solidFill>
                <a:srgbClr val="C53D35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096250" y="4800600"/>
            <a:ext cx="809625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8286750" y="4829175"/>
            <a:ext cx="4572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667"/>
          </a:bodyPr>
          <a:lstStyle/>
          <a:p>
            <a:pPr algn="r">
              <a:def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06</a:t>
            </a:r>
            <a:endParaRPr sz="1050" b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矩形 19"/>
          <p:cNvSpPr>
            <a:spLocks noGrp="1"/>
          </p:cNvSpPr>
          <p:nvPr/>
        </p:nvSpPr>
        <p:spPr>
          <a:xfrm>
            <a:off x="0" y="704850"/>
            <a:ext cx="9144000" cy="1905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723900"/>
            <a:ext cx="9144000" cy="4076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90500" y="114300"/>
            <a:ext cx="69056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CONTENTS</a:t>
            </a:r>
            <a:endParaRPr sz="210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90550" y="1143000"/>
            <a:ext cx="4953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01</a:t>
            </a:r>
            <a:endParaRPr sz="1275" b="1">
              <a:solidFill>
                <a:srgbClr val="56616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23950" y="114300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848"/>
          </a:bodyPr>
          <a:lstStyle/>
          <a:p>
            <a:pPr algn="l">
              <a:def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研究背景</a:t>
            </a:r>
            <a:endParaRPr sz="1650" b="1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857500" y="1143000"/>
            <a:ext cx="5334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公开数据上的问题与挑战</a:t>
            </a:r>
            <a:endParaRPr sz="1275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90550" y="1924050"/>
            <a:ext cx="4953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1275" b="1">
              <a:solidFill>
                <a:srgbClr val="56616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123950" y="192405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848"/>
          </a:bodyPr>
          <a:lstStyle/>
          <a:p>
            <a:pPr algn="l">
              <a:def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研究现状</a:t>
            </a:r>
            <a:endParaRPr sz="1650" b="1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857500" y="1924050"/>
            <a:ext cx="5334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分类范式与证据缺口</a:t>
            </a:r>
            <a:endParaRPr sz="1275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09575" y="2743200"/>
            <a:ext cx="57150" cy="4953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590550" y="2705100"/>
            <a:ext cx="4953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1275" b="1">
              <a:solidFill>
                <a:srgbClr val="2196D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123950" y="270510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848"/>
          </a:bodyPr>
          <a:lstStyle/>
          <a:p>
            <a:pPr algn="l">
              <a:defRPr sz="16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6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代表方法</a:t>
            </a:r>
            <a:endParaRPr sz="165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2857500" y="2705100"/>
            <a:ext cx="5334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C53D3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0">
                <a:solidFill>
                  <a:srgbClr val="C53D3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LEAD与本项目框架</a:t>
            </a:r>
            <a:endParaRPr sz="1275" b="0">
              <a:solidFill>
                <a:srgbClr val="C53D35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590550" y="3486150"/>
            <a:ext cx="4953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04</a:t>
            </a:r>
            <a:endParaRPr sz="1275" b="1">
              <a:solidFill>
                <a:srgbClr val="56616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123950" y="348615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848"/>
          </a:bodyPr>
          <a:lstStyle/>
          <a:p>
            <a:pPr algn="l">
              <a:def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后续工作</a:t>
            </a:r>
            <a:endParaRPr sz="1650" b="1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2857500" y="3486150"/>
            <a:ext cx="5334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公开数据提升与外部验证</a:t>
            </a:r>
            <a:endParaRPr sz="1275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8096250" y="4800600"/>
            <a:ext cx="809625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8286750" y="4829175"/>
            <a:ext cx="4572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667"/>
          </a:bodyPr>
          <a:lstStyle/>
          <a:p>
            <a:pPr algn="r">
              <a:def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07</a:t>
            </a:r>
            <a:endParaRPr sz="1050" b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4" name="矩形 23"/>
          <p:cNvSpPr>
            <a:spLocks noGrp="1"/>
          </p:cNvSpPr>
          <p:nvPr/>
        </p:nvSpPr>
        <p:spPr>
          <a:xfrm>
            <a:off x="0" y="704850"/>
            <a:ext cx="9144000" cy="1905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723900"/>
            <a:ext cx="9144000" cy="4076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90500" y="114300"/>
            <a:ext cx="69056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框架动机：从异构输入到稳定贡献</a:t>
            </a:r>
            <a:endParaRPr sz="210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19125" y="981075"/>
            <a:ext cx="31432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3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研究缺口</a:t>
            </a:r>
            <a:endParaRPr sz="1350" b="1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191125" y="981075"/>
            <a:ext cx="31432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3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框架响应</a:t>
            </a:r>
            <a:endParaRPr sz="1350" b="1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19125" y="1428750"/>
            <a:ext cx="7810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75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问题一</a:t>
            </a:r>
            <a:endParaRPr sz="1275" b="1">
              <a:solidFill>
                <a:srgbClr val="2196D2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476375" y="1428750"/>
            <a:ext cx="3095625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3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公开EEG数据的通道与采样率不同</a:t>
            </a:r>
            <a:endParaRPr sz="135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4667250" y="1428750"/>
            <a:ext cx="381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325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›</a:t>
            </a:r>
            <a:endParaRPr sz="2325" b="1">
              <a:solidFill>
                <a:srgbClr val="2196D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191125" y="1428750"/>
            <a:ext cx="3143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3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LEAD的通道位置与采样率嵌入</a:t>
            </a:r>
            <a:endParaRPr sz="135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19125" y="2114550"/>
            <a:ext cx="7715250" cy="9525"/>
          </a:xfrm>
          <a:prstGeom prst="rect">
            <a:avLst/>
          </a:prstGeom>
          <a:solidFill>
            <a:srgbClr val="C9D7DF"/>
          </a:solidFill>
          <a:ln w="0">
            <a:noFill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619125" y="2305050"/>
            <a:ext cx="7810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75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问题二</a:t>
            </a:r>
            <a:endParaRPr sz="1275" b="1">
              <a:solidFill>
                <a:srgbClr val="2196D2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476375" y="2305050"/>
            <a:ext cx="3095625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3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疾病标签属于被试，而非单个短片段</a:t>
            </a:r>
            <a:endParaRPr sz="135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667250" y="2305050"/>
            <a:ext cx="381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325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›</a:t>
            </a:r>
            <a:endParaRPr sz="2325" b="1">
              <a:solidFill>
                <a:srgbClr val="2196D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5191125" y="2305050"/>
            <a:ext cx="3143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3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样本级与被试级联合学习和评价</a:t>
            </a:r>
            <a:endParaRPr sz="135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19125" y="2990850"/>
            <a:ext cx="7715250" cy="9525"/>
          </a:xfrm>
          <a:prstGeom prst="rect">
            <a:avLst/>
          </a:prstGeom>
          <a:solidFill>
            <a:srgbClr val="C9D7DF"/>
          </a:solidFill>
          <a:ln w="0">
            <a:noFill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619125" y="3181350"/>
            <a:ext cx="7810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75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问题三</a:t>
            </a:r>
            <a:endParaRPr sz="1275" b="1">
              <a:solidFill>
                <a:srgbClr val="2196D2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476375" y="3181350"/>
            <a:ext cx="3095625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3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高性能仍不能说明关键频段与电极</a:t>
            </a:r>
            <a:endParaRPr sz="135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4667250" y="3181350"/>
            <a:ext cx="381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325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›</a:t>
            </a:r>
            <a:endParaRPr sz="2325" b="1">
              <a:solidFill>
                <a:srgbClr val="2196D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191125" y="3181350"/>
            <a:ext cx="3143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403"/>
          </a:bodyPr>
          <a:lstStyle/>
          <a:p>
            <a:pPr algn="l">
              <a:defRPr sz="13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3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加入配对消融、频段门控和稳定性统计</a:t>
            </a:r>
            <a:endParaRPr sz="135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66750" y="4162425"/>
            <a:ext cx="78105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14"/>
          </a:bodyPr>
          <a:lstStyle/>
          <a:p>
            <a:pPr algn="ctr">
              <a:defRPr sz="1350" b="1">
                <a:solidFill>
                  <a:srgbClr val="C53D3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350" b="1">
                <a:solidFill>
                  <a:srgbClr val="C53D3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设计原则：先建立可复现的LEAD基线，再用受控变量实验定位贡献，最后验证改进是否跨公开数据集成立。</a:t>
            </a:r>
            <a:endParaRPr sz="1350" b="1">
              <a:solidFill>
                <a:srgbClr val="C53D35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8096250" y="4800600"/>
            <a:ext cx="809625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8286750" y="4829175"/>
            <a:ext cx="4572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667"/>
          </a:bodyPr>
          <a:lstStyle/>
          <a:p>
            <a:pPr algn="r">
              <a:def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08</a:t>
            </a:r>
            <a:endParaRPr sz="1050" b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矩形 12"/>
          <p:cNvSpPr>
            <a:spLocks noGrp="1"/>
          </p:cNvSpPr>
          <p:nvPr/>
        </p:nvSpPr>
        <p:spPr>
          <a:xfrm>
            <a:off x="0" y="704850"/>
            <a:ext cx="9144000" cy="1905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723900"/>
            <a:ext cx="9144000" cy="4076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90500" y="114300"/>
            <a:ext cx="69056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LEAD主干与本项目扩展</a:t>
            </a:r>
            <a:endParaRPr sz="210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375" y="1392432"/>
            <a:ext cx="5381625" cy="2168137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5953125" y="1123950"/>
            <a:ext cx="38100" cy="26670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238875" y="1123950"/>
            <a:ext cx="2381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575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保留的LEAD能力</a:t>
            </a:r>
            <a:endParaRPr sz="1575" b="1">
              <a:solidFill>
                <a:srgbClr val="2196D2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191250" y="1571625"/>
            <a:ext cx="2476500" cy="1190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215900" indent="-101600">
              <a:spcAft>
                <a:spcPts val="500"/>
              </a:spcAft>
              <a:buChar char="•"/>
              <a:def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时间与空间联合编码</a:t>
            </a:r>
            <a:endParaRPr sz="1275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215900" indent="-101600">
              <a:spcAft>
                <a:spcPts val="500"/>
              </a:spcAft>
              <a:buChar char="•"/>
              <a:def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异构通道和采样率适配</a:t>
            </a:r>
            <a:endParaRPr sz="1275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215900" indent="-101600">
              <a:spcAft>
                <a:spcPts val="500"/>
              </a:spcAft>
              <a:buChar char="•"/>
              <a:def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被试级损失与预测聚合</a:t>
            </a:r>
            <a:endParaRPr sz="1275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238875" y="2895600"/>
            <a:ext cx="2381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>
                <a:solidFill>
                  <a:srgbClr val="C53D3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575" b="1">
                <a:solidFill>
                  <a:srgbClr val="C53D3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新增实验层</a:t>
            </a:r>
            <a:endParaRPr sz="1575" b="1">
              <a:solidFill>
                <a:srgbClr val="C53D35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191250" y="3333750"/>
            <a:ext cx="2571750" cy="1190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215900" indent="-101600">
              <a:spcAft>
                <a:spcPts val="500"/>
              </a:spcAft>
              <a:buChar char="•"/>
              <a:def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五频段输入与band embedding</a:t>
            </a:r>
            <a:endParaRPr sz="1275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215900" indent="-101600">
              <a:spcAft>
                <a:spcPts val="500"/>
              </a:spcAft>
              <a:buChar char="•"/>
              <a:def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频段、电极和特征配对消融</a:t>
            </a:r>
            <a:endParaRPr sz="1275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215900" indent="-101600">
              <a:spcAft>
                <a:spcPts val="500"/>
              </a:spcAft>
              <a:buChar char="•"/>
              <a:def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公开数据集上的跨折稳定性</a:t>
            </a:r>
            <a:endParaRPr sz="1275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096250" y="4800600"/>
            <a:ext cx="809625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8286750" y="4829175"/>
            <a:ext cx="4572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667"/>
          </a:bodyPr>
          <a:lstStyle/>
          <a:p>
            <a:pPr algn="r">
              <a:def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09</a:t>
            </a:r>
            <a:endParaRPr sz="1050" b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矩形 12"/>
          <p:cNvSpPr>
            <a:spLocks noGrp="1"/>
          </p:cNvSpPr>
          <p:nvPr/>
        </p:nvSpPr>
        <p:spPr>
          <a:xfrm>
            <a:off x="0" y="704850"/>
            <a:ext cx="9144000" cy="1905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723900"/>
            <a:ext cx="9144000" cy="4076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90500" y="114300"/>
            <a:ext cx="69056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公开数据集是模型提升的主评测场</a:t>
            </a:r>
            <a:endParaRPr sz="210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graphicFrame>
        <p:nvGraphicFramePr>
          <p:cNvPr id="17" name="Chart"/>
          <p:cNvGraphicFramePr/>
          <p:nvPr/>
        </p:nvGraphicFramePr>
        <p:xfrm>
          <a:off x="428625" y="1095375"/>
          <a:ext cx="4524375" cy="2857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" name="矩形 5"/>
          <p:cNvSpPr>
            <a:spLocks noGrp="1"/>
          </p:cNvSpPr>
          <p:nvPr/>
        </p:nvSpPr>
        <p:spPr>
          <a:xfrm>
            <a:off x="5381625" y="1066800"/>
            <a:ext cx="3048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575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当前进展</a:t>
            </a:r>
            <a:endParaRPr sz="1575" b="1">
              <a:solidFill>
                <a:srgbClr val="2196D2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334000" y="1476375"/>
            <a:ext cx="3333750" cy="1238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215900" indent="-101600">
              <a:spcAft>
                <a:spcPts val="500"/>
              </a:spcAft>
              <a:buChar char="•"/>
              <a:def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APAVA完成5次复现，被试级AUROC 90.00%</a:t>
            </a:r>
            <a:endParaRPr sz="1275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215900" indent="-101600">
              <a:spcAft>
                <a:spcPts val="500"/>
              </a:spcAft>
              <a:buChar char="•"/>
              <a:def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RepOD完成5次MCCV，被试级AUROC 56.67%</a:t>
            </a:r>
            <a:endParaRPr sz="1275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215900" indent="-101600">
              <a:spcAft>
                <a:spcPts val="500"/>
              </a:spcAft>
              <a:buChar char="•"/>
              <a:def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RepOD结果提示跨疾病迁移仍需优化</a:t>
            </a:r>
            <a:endParaRPr sz="1275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381625" y="2857500"/>
            <a:ext cx="3048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>
                <a:solidFill>
                  <a:srgbClr val="C53D3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575" b="1">
                <a:solidFill>
                  <a:srgbClr val="C53D3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后续比较</a:t>
            </a:r>
            <a:endParaRPr sz="1575" b="1">
              <a:solidFill>
                <a:srgbClr val="C53D35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334000" y="3267075"/>
            <a:ext cx="3333750" cy="1190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215900" indent="-101600">
              <a:spcAft>
                <a:spcPts val="500"/>
              </a:spcAft>
              <a:buChar char="•"/>
              <a:def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原始LEAD、随机初始化与传统基线</a:t>
            </a:r>
            <a:endParaRPr sz="1275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215900" indent="-101600">
              <a:spcAft>
                <a:spcPts val="500"/>
              </a:spcAft>
              <a:buChar char="•"/>
              <a:def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单频段、删频段及MultiBand-LEAD</a:t>
            </a:r>
            <a:endParaRPr sz="1275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215900" indent="-101600">
              <a:spcAft>
                <a:spcPts val="500"/>
              </a:spcAft>
              <a:buChar char="•"/>
              <a:def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同一被试折上比较AUROC与macro-F1</a:t>
            </a:r>
            <a:endParaRPr sz="1275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23875" y="4219575"/>
            <a:ext cx="80962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12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两组数据疾病和规模不同，图中结果只表示阶段进展，不作数据集间优劣比较。</a:t>
            </a:r>
            <a:endParaRPr sz="1125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096250" y="4800600"/>
            <a:ext cx="809625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8286750" y="4829175"/>
            <a:ext cx="4572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667"/>
          </a:bodyPr>
          <a:lstStyle/>
          <a:p>
            <a:pPr algn="r">
              <a:def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</a:t>
            </a:r>
            <a:endParaRPr sz="1050" b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矩形 19"/>
          <p:cNvSpPr>
            <a:spLocks noGrp="1"/>
          </p:cNvSpPr>
          <p:nvPr/>
        </p:nvSpPr>
        <p:spPr>
          <a:xfrm>
            <a:off x="0" y="704850"/>
            <a:ext cx="9144000" cy="1905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723900"/>
            <a:ext cx="9144000" cy="4076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90500" y="114300"/>
            <a:ext cx="69056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CONTENTS</a:t>
            </a:r>
            <a:endParaRPr sz="210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90550" y="1143000"/>
            <a:ext cx="4953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01</a:t>
            </a:r>
            <a:endParaRPr sz="1275" b="1">
              <a:solidFill>
                <a:srgbClr val="56616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23950" y="114300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848"/>
          </a:bodyPr>
          <a:lstStyle/>
          <a:p>
            <a:pPr algn="l">
              <a:def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研究背景</a:t>
            </a:r>
            <a:endParaRPr sz="1650" b="1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857500" y="1143000"/>
            <a:ext cx="5334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公开数据上的问题与挑战</a:t>
            </a:r>
            <a:endParaRPr sz="1275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90550" y="1924050"/>
            <a:ext cx="4953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1275" b="1">
              <a:solidFill>
                <a:srgbClr val="56616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123950" y="192405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848"/>
          </a:bodyPr>
          <a:lstStyle/>
          <a:p>
            <a:pPr algn="l">
              <a:def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研究现状</a:t>
            </a:r>
            <a:endParaRPr sz="1650" b="1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857500" y="1924050"/>
            <a:ext cx="5334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分类范式与证据缺口</a:t>
            </a:r>
            <a:endParaRPr sz="1275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90550" y="2705100"/>
            <a:ext cx="4953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56616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1275" b="1">
              <a:solidFill>
                <a:srgbClr val="56616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123950" y="270510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848"/>
          </a:bodyPr>
          <a:lstStyle/>
          <a:p>
            <a:pPr algn="l">
              <a:def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650" b="1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代表方法</a:t>
            </a:r>
            <a:endParaRPr sz="1650" b="1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857500" y="2705100"/>
            <a:ext cx="5334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LEAD与本项目框架</a:t>
            </a:r>
            <a:endParaRPr sz="1275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09575" y="3524250"/>
            <a:ext cx="57150" cy="4953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590550" y="3486150"/>
            <a:ext cx="4953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04</a:t>
            </a:r>
            <a:endParaRPr sz="1275" b="1">
              <a:solidFill>
                <a:srgbClr val="2196D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123950" y="348615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848"/>
          </a:bodyPr>
          <a:lstStyle/>
          <a:p>
            <a:pPr algn="l">
              <a:defRPr sz="16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6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后续工作</a:t>
            </a:r>
            <a:endParaRPr sz="165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2857500" y="3486150"/>
            <a:ext cx="5334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C53D3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75" b="0">
                <a:solidFill>
                  <a:srgbClr val="C53D3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公开数据提升与外部验证</a:t>
            </a:r>
            <a:endParaRPr sz="1275" b="0">
              <a:solidFill>
                <a:srgbClr val="C53D35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8096250" y="4800600"/>
            <a:ext cx="809625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8286750" y="4829175"/>
            <a:ext cx="4572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667"/>
          </a:bodyPr>
          <a:lstStyle/>
          <a:p>
            <a:pPr algn="r">
              <a:def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11</a:t>
            </a:r>
            <a:endParaRPr sz="1050" b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4" name="矩形 33"/>
          <p:cNvSpPr>
            <a:spLocks noGrp="1"/>
          </p:cNvSpPr>
          <p:nvPr/>
        </p:nvSpPr>
        <p:spPr>
          <a:xfrm>
            <a:off x="0" y="704850"/>
            <a:ext cx="9144000" cy="1905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723900"/>
            <a:ext cx="9144000" cy="4076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90500" y="114300"/>
            <a:ext cx="69056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后续实验路线与验证层级</a:t>
            </a:r>
            <a:endParaRPr sz="210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352425" y="123825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01</a:t>
            </a:r>
            <a:endParaRPr sz="1350" b="1">
              <a:solidFill>
                <a:srgbClr val="2196D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52425" y="1657350"/>
            <a:ext cx="1381125" cy="381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352425" y="1838325"/>
            <a:ext cx="1428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4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公开数据基线</a:t>
            </a:r>
            <a:endParaRPr sz="1425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352425" y="2343150"/>
            <a:ext cx="1428750" cy="819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0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固定被试划分</a:t>
            </a:r>
            <a:endParaRPr sz="1200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defRPr sz="120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0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复现LEAD与传统基线</a:t>
            </a:r>
            <a:endParaRPr sz="1200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752600" y="1695450"/>
            <a:ext cx="2667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787"/>
          </a:bodyPr>
          <a:lstStyle/>
          <a:p>
            <a:pPr algn="ctr">
              <a:defRPr sz="2100" b="1">
                <a:solidFill>
                  <a:srgbClr val="C9D7D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C9D7D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›</a:t>
            </a:r>
            <a:endParaRPr sz="2100" b="1">
              <a:solidFill>
                <a:srgbClr val="C9D7D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76450" y="123825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1350" b="1">
              <a:solidFill>
                <a:srgbClr val="2196D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2076450" y="1657350"/>
            <a:ext cx="1381125" cy="381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2076450" y="1838325"/>
            <a:ext cx="1428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4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因素筛选</a:t>
            </a:r>
            <a:endParaRPr sz="1425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076450" y="2343150"/>
            <a:ext cx="1428750" cy="819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0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单频段与删频段</a:t>
            </a:r>
            <a:endParaRPr sz="1200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defRPr sz="120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0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电极和特征消融</a:t>
            </a:r>
            <a:endParaRPr sz="1200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3476625" y="1695450"/>
            <a:ext cx="2667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787"/>
          </a:bodyPr>
          <a:lstStyle/>
          <a:p>
            <a:pPr algn="ctr">
              <a:defRPr sz="2100" b="1">
                <a:solidFill>
                  <a:srgbClr val="C9D7D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C9D7D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›</a:t>
            </a:r>
            <a:endParaRPr sz="2100" b="1">
              <a:solidFill>
                <a:srgbClr val="C9D7D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800475" y="123825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1350" b="1">
              <a:solidFill>
                <a:srgbClr val="2196D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3800475" y="1657350"/>
            <a:ext cx="1381125" cy="381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3800475" y="1838325"/>
            <a:ext cx="1428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4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模型提升</a:t>
            </a:r>
            <a:endParaRPr sz="1425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3800475" y="2343150"/>
            <a:ext cx="1428750" cy="819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0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频段门控融合</a:t>
            </a:r>
            <a:endParaRPr sz="1200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defRPr sz="120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0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MultiBand-LEAD</a:t>
            </a:r>
            <a:endParaRPr sz="1200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200650" y="1695450"/>
            <a:ext cx="2667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787"/>
          </a:bodyPr>
          <a:lstStyle/>
          <a:p>
            <a:pPr algn="ctr">
              <a:defRPr sz="2100" b="1">
                <a:solidFill>
                  <a:srgbClr val="C9D7D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C9D7D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›</a:t>
            </a:r>
            <a:endParaRPr sz="2100" b="1">
              <a:solidFill>
                <a:srgbClr val="C9D7D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524500" y="123825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2196D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04</a:t>
            </a:r>
            <a:endParaRPr sz="1350" b="1">
              <a:solidFill>
                <a:srgbClr val="2196D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524500" y="1657350"/>
            <a:ext cx="1381125" cy="381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5524500" y="1838325"/>
            <a:ext cx="1428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4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公开集验证</a:t>
            </a:r>
            <a:endParaRPr sz="1425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524500" y="2343150"/>
            <a:ext cx="1428750" cy="819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0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跨数据集与多种子</a:t>
            </a:r>
            <a:endParaRPr sz="1200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defRPr sz="120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0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确认提升和排名稳定</a:t>
            </a:r>
            <a:endParaRPr sz="1200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6924675" y="1695450"/>
            <a:ext cx="2667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787"/>
          </a:bodyPr>
          <a:lstStyle/>
          <a:p>
            <a:pPr algn="ctr">
              <a:defRPr sz="2100" b="1">
                <a:solidFill>
                  <a:srgbClr val="C9D7D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C9D7D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›</a:t>
            </a:r>
            <a:endParaRPr sz="2100" b="1">
              <a:solidFill>
                <a:srgbClr val="C9D7D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248525" y="1238250"/>
            <a:ext cx="4286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C53D35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1">
                <a:solidFill>
                  <a:srgbClr val="C53D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05</a:t>
            </a:r>
            <a:endParaRPr sz="1350" b="1">
              <a:solidFill>
                <a:srgbClr val="C53D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248525" y="1657350"/>
            <a:ext cx="1381125" cy="38100"/>
          </a:xfrm>
          <a:prstGeom prst="rect">
            <a:avLst/>
          </a:prstGeom>
          <a:solidFill>
            <a:srgbClr val="C53D35"/>
          </a:solidFill>
          <a:ln w="0">
            <a:noFill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7248525" y="1838325"/>
            <a:ext cx="1428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425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医院外部验证</a:t>
            </a:r>
            <a:endParaRPr sz="1425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7248525" y="2343150"/>
            <a:ext cx="1428750" cy="819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0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模型定型后一次验证</a:t>
            </a:r>
            <a:endParaRPr sz="1200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defRPr sz="120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200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不参与调参</a:t>
            </a:r>
            <a:endParaRPr sz="1200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457200" y="3571875"/>
            <a:ext cx="8096250" cy="9525"/>
          </a:xfrm>
          <a:prstGeom prst="rect">
            <a:avLst/>
          </a:prstGeom>
          <a:solidFill>
            <a:srgbClr val="C9D7DF"/>
          </a:solidFill>
          <a:ln w="0">
            <a:noFill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619125" y="3733800"/>
            <a:ext cx="78105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C53D3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350" b="1">
                <a:solidFill>
                  <a:srgbClr val="C53D3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关键验收：相同公开数据、相同被试折和相同评价指标下，MultiBand-LEAD稳定优于原始LEAD。</a:t>
            </a:r>
            <a:endParaRPr sz="1350" b="1">
              <a:solidFill>
                <a:srgbClr val="C53D35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714375" y="4257675"/>
            <a:ext cx="7620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125" b="0">
                <a:solidFill>
                  <a:srgbClr val="56616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补充说明：资源允许时，仅在最终阶段用LaBraM复核关键频段与电极排名是否依赖LEAD架构。</a:t>
            </a:r>
            <a:endParaRPr sz="1125" b="0">
              <a:solidFill>
                <a:srgbClr val="56616F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8096250" y="4800600"/>
            <a:ext cx="809625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8286750" y="4829175"/>
            <a:ext cx="4572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667"/>
          </a:bodyPr>
          <a:lstStyle/>
          <a:p>
            <a:pPr algn="r">
              <a:def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12</a:t>
            </a:r>
            <a:endParaRPr sz="1050" b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" name="矩形 13"/>
          <p:cNvSpPr>
            <a:spLocks noGrp="1"/>
          </p:cNvSpPr>
          <p:nvPr/>
        </p:nvSpPr>
        <p:spPr>
          <a:xfrm>
            <a:off x="0" y="704850"/>
            <a:ext cx="9144000" cy="1905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723900"/>
            <a:ext cx="9144000" cy="4076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90500" y="114300"/>
            <a:ext cx="69056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210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总结</a:t>
            </a:r>
            <a:endParaRPr sz="210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857250" y="1238250"/>
            <a:ext cx="16192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500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研究主线</a:t>
            </a:r>
            <a:endParaRPr sz="1500" b="1">
              <a:solidFill>
                <a:srgbClr val="2196D2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2333625" y="1219200"/>
            <a:ext cx="5905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548"/>
          </a:bodyPr>
          <a:lstStyle/>
          <a:p>
            <a:pPr algn="l">
              <a:defRPr sz="16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6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在公开数据集上提升LEAD，并定位稳定贡献分类的频段、电极和特征。</a:t>
            </a:r>
            <a:endParaRPr sz="165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57250" y="2095500"/>
            <a:ext cx="16192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500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验证边界</a:t>
            </a:r>
            <a:endParaRPr sz="1500" b="1">
              <a:solidFill>
                <a:srgbClr val="2196D2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333625" y="2076450"/>
            <a:ext cx="5905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6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医院数据用于最终外部验证，不驱动框架设计和模型选择。</a:t>
            </a:r>
            <a:endParaRPr sz="165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57250" y="2952750"/>
            <a:ext cx="16192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500" b="1">
                <a:solidFill>
                  <a:srgbClr val="2196D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核心模型</a:t>
            </a:r>
            <a:endParaRPr sz="1500" b="1">
              <a:solidFill>
                <a:srgbClr val="2196D2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333625" y="2933700"/>
            <a:ext cx="5905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defRPr>
            </a:pPr>
            <a:r>
              <a:rPr sz="1650" b="1">
                <a:solidFill>
                  <a:srgbClr val="1F2937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LEAD承担全部主实验；LaBraM仅作为末期补充对照。</a:t>
            </a:r>
            <a:endParaRPr sz="1650" b="1">
              <a:solidFill>
                <a:srgbClr val="1F2937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3143250" y="3943350"/>
            <a:ext cx="28575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100" b="1">
                <a:solidFill>
                  <a:srgbClr val="1F2937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1">
                <a:solidFill>
                  <a:srgbClr val="1F2937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Thank you</a:t>
            </a:r>
            <a:endParaRPr sz="2100" b="1">
              <a:solidFill>
                <a:srgbClr val="1F2937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096250" y="4800600"/>
            <a:ext cx="809625" cy="342900"/>
          </a:xfrm>
          <a:prstGeom prst="rect">
            <a:avLst/>
          </a:prstGeom>
          <a:solidFill>
            <a:srgbClr val="2196D2"/>
          </a:solidFill>
          <a:ln w="0">
            <a:noFill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8286750" y="4829175"/>
            <a:ext cx="4572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667"/>
          </a:bodyPr>
          <a:lstStyle/>
          <a:p>
            <a:pPr algn="r">
              <a:def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050" b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13</a:t>
            </a:r>
            <a:endParaRPr sz="1050" b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28,&quot;left&quot;:46.5,&quot;top&quot;:90,&quot;width&quot;:598.5}"/>
</p:tagLst>
</file>

<file path=ppt/tags/tag2.xml><?xml version="1.0" encoding="utf-8"?>
<p:tagLst xmlns:p="http://schemas.openxmlformats.org/presentationml/2006/main">
  <p:tag name="KSO_WM_DIAGRAM_VIRTUALLY_FRAME" val="{&quot;height&quot;:228,&quot;left&quot;:46.5,&quot;top&quot;:90,&quot;width&quot;:598.5}"/>
</p:tagLst>
</file>

<file path=ppt/tags/tag3.xml><?xml version="1.0" encoding="utf-8"?>
<p:tagLst xmlns:p="http://schemas.openxmlformats.org/presentationml/2006/main">
  <p:tag name="KSO_WM_DIAGRAM_VIRTUALLY_FRAME" val="{&quot;height&quot;:228,&quot;left&quot;:46.5,&quot;top&quot;:90,&quot;width&quot;:598.5}"/>
</p:tagLst>
</file>

<file path=ppt/tags/tag4.xml><?xml version="1.0" encoding="utf-8"?>
<p:tagLst xmlns:p="http://schemas.openxmlformats.org/presentationml/2006/main">
  <p:tag name="KSO_WM_DIAGRAM_VIRTUALLY_FRAME" val="{&quot;height&quot;:228,&quot;left&quot;:46.5,&quot;top&quot;:90,&quot;width&quot;:598.5}"/>
</p:tagLst>
</file>

<file path=ppt/tags/tag5.xml><?xml version="1.0" encoding="utf-8"?>
<p:tagLst xmlns:p="http://schemas.openxmlformats.org/presentationml/2006/main">
  <p:tag name="KSO_WM_DIAGRAM_VIRTUALLY_FRAME" val="{&quot;height&quot;:228,&quot;left&quot;:46.5,&quot;top&quot;:90,&quot;width&quot;:598.5}"/>
</p:tagLst>
</file>

<file path=ppt/tags/tag6.xml><?xml version="1.0" encoding="utf-8"?>
<p:tagLst xmlns:p="http://schemas.openxmlformats.org/presentationml/2006/main">
  <p:tag name="KSO_WM_DIAGRAM_VIRTUALLY_FRAME" val="{&quot;height&quot;:228,&quot;left&quot;:46.5,&quot;top&quot;:90,&quot;width&quot;:598.5}"/>
</p:tagLst>
</file>

<file path=ppt/tags/tag7.xml><?xml version="1.0" encoding="utf-8"?>
<p:tagLst xmlns:p="http://schemas.openxmlformats.org/presentationml/2006/main">
  <p:tag name="KSO_WM_DIAGRAM_VIRTUALLY_FRAME" val="{&quot;height&quot;:228,&quot;left&quot;:46.5,&quot;top&quot;:90,&quot;width&quot;:598.5}"/>
</p:tagLst>
</file>

<file path=ppt/tags/tag8.xml><?xml version="1.0" encoding="utf-8"?>
<p:tagLst xmlns:p="http://schemas.openxmlformats.org/presentationml/2006/main">
  <p:tag name="KSO_WM_DIAGRAM_VIRTUALLY_FRAME" val="{&quot;height&quot;:228,&quot;left&quot;:46.5,&quot;top&quot;:90,&quot;width&quot;:598.5}"/>
</p:tagLst>
</file>

<file path=ppt/tags/tag9.xml><?xml version="1.0" encoding="utf-8"?>
<p:tagLst xmlns:p="http://schemas.openxmlformats.org/presentationml/2006/main">
  <p:tag name="KSO_WM_DIAGRAM_VIRTUALLY_FRAME" val="{&quot;height&quot;:228,&quot;left&quot;:46.5,&quot;top&quot;:90,&quot;width&quot;:598.5}"/>
</p:tagLst>
</file>

<file path=ppt/tags/tag10.xml><?xml version="1.0" encoding="utf-8"?>
<p:tagLst xmlns:p="http://schemas.openxmlformats.org/presentationml/2006/main">
  <p:tag name="KSO_WM_DIAGRAM_VIRTUALLY_FRAME" val="{&quot;height&quot;:228,&quot;left&quot;:46.5,&quot;top&quot;:90,&quot;width&quot;:598.5}"/>
</p:tagLst>
</file>

<file path=ppt/tags/tag11.xml><?xml version="1.0" encoding="utf-8"?>
<p:tagLst xmlns:p="http://schemas.openxmlformats.org/presentationml/2006/main">
  <p:tag name="KSO_WM_DIAGRAM_VIRTUALLY_FRAME" val="{&quot;height&quot;:228,&quot;left&quot;:46.5,&quot;top&quot;:90,&quot;width&quot;:598.5}"/>
</p:tagLst>
</file>

<file path=ppt/tags/tag12.xml><?xml version="1.0" encoding="utf-8"?>
<p:tagLst xmlns:p="http://schemas.openxmlformats.org/presentationml/2006/main">
  <p:tag name="KSO_WM_DIAGRAM_VIRTUALLY_FRAME" val="{&quot;height&quot;:228,&quot;left&quot;:46.5,&quot;top&quot;:90,&quot;width&quot;:598.5}"/>
</p:tagLst>
</file>

<file path=ppt/tags/tag13.xml><?xml version="1.0" encoding="utf-8"?>
<p:tagLst xmlns:p="http://schemas.openxmlformats.org/presentationml/2006/main">
  <p:tag name="KSO_WM_DIAGRAM_VIRTUALLY_FRAME" val="{&quot;height&quot;:167.25,&quot;left&quot;:39,&quot;top&quot;:96,&quot;width&quot;:629.25}"/>
</p:tagLst>
</file>

<file path=ppt/tags/tag14.xml><?xml version="1.0" encoding="utf-8"?>
<p:tagLst xmlns:p="http://schemas.openxmlformats.org/presentationml/2006/main">
  <p:tag name="KSO_WM_DIAGRAM_VIRTUALLY_FRAME" val="{&quot;height&quot;:167.25,&quot;left&quot;:39,&quot;top&quot;:96,&quot;width&quot;:629.25}"/>
</p:tagLst>
</file>

<file path=ppt/tags/tag15.xml><?xml version="1.0" encoding="utf-8"?>
<p:tagLst xmlns:p="http://schemas.openxmlformats.org/presentationml/2006/main">
  <p:tag name="KSO_WM_DIAGRAM_VIRTUALLY_FRAME" val="{&quot;height&quot;:167.25,&quot;left&quot;:39,&quot;top&quot;:96,&quot;width&quot;:629.25}"/>
</p:tagLst>
</file>

<file path=ppt/tags/tag16.xml><?xml version="1.0" encoding="utf-8"?>
<p:tagLst xmlns:p="http://schemas.openxmlformats.org/presentationml/2006/main">
  <p:tag name="KSO_WM_DIAGRAM_VIRTUALLY_FRAME" val="{&quot;height&quot;:167.25,&quot;left&quot;:39,&quot;top&quot;:96,&quot;width&quot;:629.25}"/>
</p:tagLst>
</file>

<file path=ppt/tags/tag17.xml><?xml version="1.0" encoding="utf-8"?>
<p:tagLst xmlns:p="http://schemas.openxmlformats.org/presentationml/2006/main">
  <p:tag name="KSO_WM_DIAGRAM_VIRTUALLY_FRAME" val="{&quot;height&quot;:167.25,&quot;left&quot;:39,&quot;top&quot;:96,&quot;width&quot;:629.25}"/>
</p:tagLst>
</file>

<file path=ppt/tags/tag18.xml><?xml version="1.0" encoding="utf-8"?>
<p:tagLst xmlns:p="http://schemas.openxmlformats.org/presentationml/2006/main">
  <p:tag name="KSO_WM_DIAGRAM_VIRTUALLY_FRAME" val="{&quot;height&quot;:167.25,&quot;left&quot;:39,&quot;top&quot;:96,&quot;width&quot;:629.25}"/>
</p:tagLst>
</file>

<file path=ppt/tags/tag19.xml><?xml version="1.0" encoding="utf-8"?>
<p:tagLst xmlns:p="http://schemas.openxmlformats.org/presentationml/2006/main">
  <p:tag name="KSO_WM_DIAGRAM_VIRTUALLY_FRAME" val="{&quot;height&quot;:167.25,&quot;left&quot;:39,&quot;top&quot;:96,&quot;width&quot;:629.25}"/>
</p:tagLst>
</file>

<file path=ppt/tags/tag20.xml><?xml version="1.0" encoding="utf-8"?>
<p:tagLst xmlns:p="http://schemas.openxmlformats.org/presentationml/2006/main">
  <p:tag name="KSO_WM_DIAGRAM_VIRTUALLY_FRAME" val="{&quot;height&quot;:167.25,&quot;left&quot;:39,&quot;top&quot;:96,&quot;width&quot;:629.25}"/>
</p:tagLst>
</file>

<file path=ppt/tags/tag21.xml><?xml version="1.0" encoding="utf-8"?>
<p:tagLst xmlns:p="http://schemas.openxmlformats.org/presentationml/2006/main">
  <p:tag name="KSO_WM_DIAGRAM_VIRTUALLY_FRAME" val="{&quot;height&quot;:167.25,&quot;left&quot;:39,&quot;top&quot;:96,&quot;width&quot;:629.25}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1726</Words>
  <Application>WPS 演示</Application>
  <PresentationFormat>Converted Presentation</PresentationFormat>
  <Paragraphs>344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1" baseType="lpstr">
      <vt:lpstr>Arial</vt:lpstr>
      <vt:lpstr>宋体</vt:lpstr>
      <vt:lpstr>Wingdings</vt:lpstr>
      <vt:lpstr>Arial</vt:lpstr>
      <vt:lpstr>微软雅黑</vt:lpstr>
      <vt:lpstr>Arial Unicode MS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WPS_1687824760</cp:lastModifiedBy>
  <cp:revision>1</cp:revision>
  <dcterms:created xsi:type="dcterms:W3CDTF">2026-09-15T03:45:10Z</dcterms:created>
  <dcterms:modified xsi:type="dcterms:W3CDTF">2026-09-15T03:45:10Z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94E01CF73DAC4345906350628FA9B85F_12</vt:lpwstr>
  </property>
</Properties>
</file>