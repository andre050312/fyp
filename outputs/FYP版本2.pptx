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ed8cc2b10143d4" /><Relationship Type="http://schemas.openxmlformats.org/officeDocument/2006/relationships/extended-properties" Target="/docProps/app.xml" Id="R0b00e1ac58be4824" /><Relationship Type="http://schemas.openxmlformats.org/officeDocument/2006/relationships/officeDocument" Target="/ppt/presentation.xml" Id="R57deb591f7ce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cc269c496e49e6"/>
  </p:sldMasterIdLst>
  <p:notesMasterIdLst>
    <p:notesMasterId xmlns:r="http://schemas.openxmlformats.org/officeDocument/2006/relationships" r:id="Ra28bbbbc0d6d4de1"/>
  </p:notesMasterIdLst>
  <p:sldIdLst>
    <p:sldId xmlns:r="http://schemas.openxmlformats.org/officeDocument/2006/relationships" id="256" r:id="R22bbac9e732e4d11"/>
    <p:sldId xmlns:r="http://schemas.openxmlformats.org/officeDocument/2006/relationships" id="257" r:id="R2cf2735dc69846d2"/>
    <p:sldId xmlns:r="http://schemas.openxmlformats.org/officeDocument/2006/relationships" id="258" r:id="Rf4e50fa28ed34e08"/>
    <p:sldId xmlns:r="http://schemas.openxmlformats.org/officeDocument/2006/relationships" id="259" r:id="Ra6baebd37b2641a8"/>
    <p:sldId xmlns:r="http://schemas.openxmlformats.org/officeDocument/2006/relationships" id="260" r:id="R9190e8d7ea184446"/>
    <p:sldId xmlns:r="http://schemas.openxmlformats.org/officeDocument/2006/relationships" id="261" r:id="R92b5e2b155db4758"/>
    <p:sldId xmlns:r="http://schemas.openxmlformats.org/officeDocument/2006/relationships" id="262" r:id="R698a9e4ce9d44c0b"/>
    <p:sldId xmlns:r="http://schemas.openxmlformats.org/officeDocument/2006/relationships" id="263" r:id="Rea4009a42b364c4b"/>
    <p:sldId xmlns:r="http://schemas.openxmlformats.org/officeDocument/2006/relationships" id="264" r:id="R7ce15aedecb74dbf"/>
    <p:sldId xmlns:r="http://schemas.openxmlformats.org/officeDocument/2006/relationships" id="265" r:id="R69ead3f67abd4ef8"/>
    <p:sldId xmlns:r="http://schemas.openxmlformats.org/officeDocument/2006/relationships" id="266" r:id="Rc4efbcb227094d5a"/>
    <p:sldId xmlns:r="http://schemas.openxmlformats.org/officeDocument/2006/relationships" id="267" r:id="R86b2ecacfe95416b"/>
    <p:sldId xmlns:r="http://schemas.openxmlformats.org/officeDocument/2006/relationships" id="268" r:id="R81e6690aa850448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f56d6b78bb4d38" /><Relationship Type="http://schemas.openxmlformats.org/officeDocument/2006/relationships/slideMaster" Target="/ppt/slideMasters/slideMaster1.xml" Id="R75cc269c496e49e6" /><Relationship Type="http://schemas.openxmlformats.org/officeDocument/2006/relationships/notesMaster" Target="/ppt/notesMasters/notesMaster1.xml" Id="Ra28bbbbc0d6d4de1" /><Relationship Type="http://schemas.openxmlformats.org/officeDocument/2006/relationships/presProps" Target="/ppt/presProps.xml" Id="Rd70eb1174a4e4d7b" /><Relationship Type="http://schemas.openxmlformats.org/officeDocument/2006/relationships/tableStyles" Target="/ppt/tableStyles.xml" Id="R1d3ab36098ba49bc" /><Relationship Type="http://schemas.openxmlformats.org/officeDocument/2006/relationships/slide" Target="/ppt/slides/slide1.xml" Id="R22bbac9e732e4d11" /><Relationship Type="http://schemas.openxmlformats.org/officeDocument/2006/relationships/slide" Target="/ppt/slides/slide2.xml" Id="R2cf2735dc69846d2" /><Relationship Type="http://schemas.openxmlformats.org/officeDocument/2006/relationships/slide" Target="/ppt/slides/slide3.xml" Id="Rf4e50fa28ed34e08" /><Relationship Type="http://schemas.openxmlformats.org/officeDocument/2006/relationships/slide" Target="/ppt/slides/slide4.xml" Id="Ra6baebd37b2641a8" /><Relationship Type="http://schemas.openxmlformats.org/officeDocument/2006/relationships/slide" Target="/ppt/slides/slide5.xml" Id="R9190e8d7ea184446" /><Relationship Type="http://schemas.openxmlformats.org/officeDocument/2006/relationships/slide" Target="/ppt/slides/slide6.xml" Id="R92b5e2b155db4758" /><Relationship Type="http://schemas.openxmlformats.org/officeDocument/2006/relationships/slide" Target="/ppt/slides/slide7.xml" Id="R698a9e4ce9d44c0b" /><Relationship Type="http://schemas.openxmlformats.org/officeDocument/2006/relationships/slide" Target="/ppt/slides/slide8.xml" Id="Rea4009a42b364c4b" /><Relationship Type="http://schemas.openxmlformats.org/officeDocument/2006/relationships/slide" Target="/ppt/slides/slide9.xml" Id="R7ce15aedecb74dbf" /><Relationship Type="http://schemas.openxmlformats.org/officeDocument/2006/relationships/slide" Target="/ppt/slides/slide10.xml" Id="R69ead3f67abd4ef8" /><Relationship Type="http://schemas.openxmlformats.org/officeDocument/2006/relationships/slide" Target="/ppt/slides/slide11.xml" Id="Rc4efbcb227094d5a" /><Relationship Type="http://schemas.openxmlformats.org/officeDocument/2006/relationships/slide" Target="/ppt/slides/slide12.xml" Id="R86b2ecacfe95416b" /><Relationship Type="http://schemas.openxmlformats.org/officeDocument/2006/relationships/slide" Target="/ppt/slides/slide13.xml" Id="R81e6690aa85044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6b78cfe76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4e9dc07c0c41fb" /><Relationship Type="http://schemas.openxmlformats.org/officeDocument/2006/relationships/notesMaster" Target="/ppt/notesMasters/notesMaster1.xml" Id="R5900736b545f4c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9f1bbd8b1c4bc4" /><Relationship Type="http://schemas.openxmlformats.org/officeDocument/2006/relationships/notesMaster" Target="/ppt/notesMasters/notesMaster1.xml" Id="Rdbee8456acc648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8e5d09178458d" /><Relationship Type="http://schemas.openxmlformats.org/officeDocument/2006/relationships/notesMaster" Target="/ppt/notesMasters/notesMaster1.xml" Id="R1b6191b06f374c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5b895b27124931" /><Relationship Type="http://schemas.openxmlformats.org/officeDocument/2006/relationships/notesMaster" Target="/ppt/notesMasters/notesMaster1.xml" Id="R62187a201b13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2a79727eef4d8a" /><Relationship Type="http://schemas.openxmlformats.org/officeDocument/2006/relationships/notesMaster" Target="/ppt/notesMasters/notesMaster1.xml" Id="Rc2476cce9d7a43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2e7e502e5941c1" /><Relationship Type="http://schemas.openxmlformats.org/officeDocument/2006/relationships/notesMaster" Target="/ppt/notesMasters/notesMaster1.xml" Id="Rc55694bcff1046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cc2845d7894adf" /><Relationship Type="http://schemas.openxmlformats.org/officeDocument/2006/relationships/notesMaster" Target="/ppt/notesMasters/notesMaster1.xml" Id="R621ee83bc8974e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d6fdaff9d54c69" /><Relationship Type="http://schemas.openxmlformats.org/officeDocument/2006/relationships/notesMaster" Target="/ppt/notesMasters/notesMaster1.xml" Id="R4be657aecbec43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74ec79d36b4881" /><Relationship Type="http://schemas.openxmlformats.org/officeDocument/2006/relationships/notesMaster" Target="/ppt/notesMasters/notesMaster1.xml" Id="R50383c8611514b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ff72ce2f814eb2" /><Relationship Type="http://schemas.openxmlformats.org/officeDocument/2006/relationships/notesMaster" Target="/ppt/notesMasters/notesMaster1.xml" Id="R75917391b2de4e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2b1e8a4bf347af" /><Relationship Type="http://schemas.openxmlformats.org/officeDocument/2006/relationships/notesMaster" Target="/ppt/notesMasters/notesMaster1.xml" Id="Raf89e00a5f6046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5feb4207914b77" /><Relationship Type="http://schemas.openxmlformats.org/officeDocument/2006/relationships/notesMaster" Target="/ppt/notesMasters/notesMaster1.xml" Id="Rf88f08d987dc48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2b0694f3894984" /><Relationship Type="http://schemas.openxmlformats.org/officeDocument/2006/relationships/notesMaster" Target="/ppt/notesMasters/notesMaster1.xml" Id="Rd09f0f91478646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本页使用用户提供的调研汇报模板。研究主线：公开数据集上的可复现性能提升；医院数据仅作后续外部验证。主模型为LEAD。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来源：用户提供的EEG文章筛选.xlsx与现有FYP版本1。共同输入条件属于文献观察，不代表因果或决定性证据。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研究范围由用户确认：医院数据仅作后续实验验证，项目重点是公开数据集上的性能提升。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来源：EEG文章筛选.xlsx、LEAD论文与FYP版本1中的方法综述。LaBraM仅在此作为预训练模型类别示例。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LEAD技术依据来自本地论文2502.01678v4.pdf和C:/Users/ROG/Desktop/LEAD代码。第三项为本项目在LEAD基础上的研究扩展。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图片来源：C:/Users/ROG/Desktop/LEAD/figs/lead_pipeline.png，来自LEAD项目。模型主体固定为LEAD。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数据来源：C:/Users/ROG/Desktop/LEAD/results/LEADv2/finetune/LEADv2/P-Base-F-APAVA-Multi/results.txt；C:/Users/ROG/Desktop/LEAD/results/LEADv2/finetune/LEADv2/P-Base-F-RepOD-MCCV/results.txt。APAVA：片段级AUROC 91.90%，被试级AUROC 90.00%。RepOD：片段级AUROC 64.89%，被试级AUROC 56.67%。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医院数据仅作为模型定型后的外部实验验证。LaBraM不进入主线开发，仅作为末期可选的模型独立性复核。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汇报结束。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326bf780b4c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462e19a40348d6" /><Relationship Type="http://schemas.openxmlformats.org/officeDocument/2006/relationships/slideLayout" Target="/ppt/slideLayouts/slideLayout1.xml" Id="R6883d8acdf4d47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83d8acdf4d47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4a0f57db548f2" /><Relationship Type="http://schemas.openxmlformats.org/officeDocument/2006/relationships/notesSlide" Target="/ppt/notesSlides/notesSlide1.xml" Id="R6e05e09e7fe1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73d6c698d4bd2" /><Relationship Type="http://schemas.openxmlformats.org/officeDocument/2006/relationships/notesSlide" Target="/ppt/notesSlides/notesSlide2.xml" Id="R87a21b24c2c642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c5d457a504749" /><Relationship Type="http://schemas.openxmlformats.org/officeDocument/2006/relationships/notesSlide" Target="/ppt/notesSlides/notesSlide3.xml" Id="R708c8524738d42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3b66cea234a9f" /><Relationship Type="http://schemas.openxmlformats.org/officeDocument/2006/relationships/notesSlide" Target="/ppt/notesSlides/notesSlide4.xml" Id="R1614a4ee23a642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4ba071db44a34" /><Relationship Type="http://schemas.openxmlformats.org/officeDocument/2006/relationships/notesSlide" Target="/ppt/notesSlides/notesSlide5.xml" Id="R754caf0f8d5f4f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26116438947e3" /><Relationship Type="http://schemas.openxmlformats.org/officeDocument/2006/relationships/notesSlide" Target="/ppt/notesSlides/notesSlide6.xml" Id="R617859027f1f42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2a2a441624808" /><Relationship Type="http://schemas.openxmlformats.org/officeDocument/2006/relationships/notesSlide" Target="/ppt/notesSlides/notesSlide7.xml" Id="R7357a2f1592147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8759eec32402c" /><Relationship Type="http://schemas.openxmlformats.org/officeDocument/2006/relationships/notesSlide" Target="/ppt/notesSlides/notesSlide8.xml" Id="Rdc0f0ed13e834e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641b9e8f44d8f" /><Relationship Type="http://schemas.openxmlformats.org/officeDocument/2006/relationships/image" Target="/ppt/media/image.png" Id="Re4f6fe7dc8254aac" /><Relationship Type="http://schemas.openxmlformats.org/officeDocument/2006/relationships/notesSlide" Target="/ppt/notesSlides/notesSlide9.xml" Id="R9719037078d347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eb57ae6a74a5e" /><Relationship Type="http://schemas.openxmlformats.org/officeDocument/2006/relationships/chart" Target="/ppt/slides/charts/chart1.xml" Id="Rdafda71e5867410f" /><Relationship Type="http://schemas.openxmlformats.org/officeDocument/2006/relationships/notesSlide" Target="/ppt/notesSlides/notesSlide10.xml" Id="R1733a6e5ca0440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d967adf064816" /><Relationship Type="http://schemas.openxmlformats.org/officeDocument/2006/relationships/notesSlide" Target="/ppt/notesSlides/notesSlide11.xml" Id="Re133a4ebb18347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8524d065d4155" /><Relationship Type="http://schemas.openxmlformats.org/officeDocument/2006/relationships/notesSlide" Target="/ppt/notesSlides/notesSlide12.xml" Id="R00d9a05cc3c446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5b97ae7e047da" /><Relationship Type="http://schemas.openxmlformats.org/officeDocument/2006/relationships/notesSlide" Target="/ppt/notesSlides/notesSlide13.xml" Id="R11d34ef416e74a9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片段级 AUROC</c:v>
          </c:tx>
          <c:spPr>
            <a:solidFill xmlns:a="http://schemas.openxmlformats.org/drawingml/2006/main">
              <a:srgbClr val="2196D2"/>
            </a:solidFill>
          </c:spPr>
          <c:cat>
            <c:strLit>
              <c:ptCount val="2"/>
              <c:pt idx="0">
                <c:v>APAVA（AD）</c:v>
              </c:pt>
              <c:pt idx="1">
                <c:v>RepOD（SZ）</c:v>
              </c:pt>
            </c:strLit>
          </c:cat>
          <c:val>
            <c:numLit>
              <c:formatCode>0%</c:formatCode>
              <c:ptCount val="2"/>
              <c:pt idx="0">
                <c:v>0.919</c:v>
              </c:pt>
              <c:pt idx="1">
                <c:v>0.6489</c:v>
              </c:pt>
            </c:numLit>
          </c:val>
        </c:ser>
        <c:ser>
          <c:idx val="1"/>
          <c:order val="1"/>
          <c:tx>
            <c:v>被试级 AUROC</c:v>
          </c:tx>
          <c:spPr>
            <a:solidFill xmlns:a="http://schemas.openxmlformats.org/drawingml/2006/main">
              <a:srgbClr val="D49A22"/>
            </a:solidFill>
          </c:spPr>
          <c:cat>
            <c:strLit>
              <c:ptCount val="2"/>
              <c:pt idx="0">
                <c:v>APAVA（AD）</c:v>
              </c:pt>
              <c:pt idx="1">
                <c:v>RepOD（SZ）</c:v>
              </c:pt>
            </c:strLit>
          </c:cat>
          <c:val>
            <c:numLit>
              <c:formatCode>0%</c:formatCode>
              <c:ptCount val="2"/>
              <c:pt idx="0">
                <c:v>0.9</c:v>
              </c:pt>
              <c:pt idx="1">
                <c:v>0.5667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宋体"/>
                  <a:ea typeface="宋体"/>
                  <a:cs typeface="宋体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宋体"/>
                <a:ea typeface="宋体"/>
                <a:cs typeface="宋体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宋体"/>
                <a:ea typeface="宋体"/>
                <a:cs typeface="宋体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7D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宋体"/>
              <a:ea typeface="宋体"/>
              <a:cs typeface="宋体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0D4F7-35BA-4018-97C6-6AE422AA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3F2D7-CB67-425E-83FB-8417719A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15476-D86C-4B67-8BB8-C701B819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A67A7-CC80-4CD1-AF2A-0806CAAE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74FD8-AE98-4132-98C7-526065E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95375"/>
            <a:ext cx="723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8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基于 LEAD 的多疾病 EEG</a:t>
            </a:r>
          </a:p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8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关键因素筛选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31D28-999C-4873-9DE4-D54042A2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5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公开数据集性能提升与电极、频段、特征的稳定贡献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A64FC-4120-4118-8D7C-655ADB2E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FYP 调研汇报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AB627-81AA-4C8B-9AE5-0B0E2A90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2026-09-13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44A49-807E-40FB-BB90-7CECB25A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E19F7-052C-4AAB-AF57-AEE49395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8351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EFF28-2265-478E-99CD-701B4F36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5CD11-D5C0-401A-BC62-63E40BA1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6898C-9456-47E5-B2E7-1AFBBAF6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C36EE-B5D6-4399-B893-35C9E85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DF44C-96FF-4F20-98F3-F71E6336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811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EA884-AD85-45A5-BDD9-A1A03BE1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BB30F-4AD3-4826-AF24-EEC26D65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4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研究背景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16B0B-12E1-41DF-9C80-18C6FCF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公开数据上的问题与挑战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BB74C-84C4-40D4-8278-17624FEF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6FB2B-EBD4-48CC-A0B2-EA41251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82C42-9961-471F-A45D-E556444E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分类范式与证据缺口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00CE3-EEE6-43D7-8DF6-97C29E8C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71ED9-DDF4-4052-B833-FF4702D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代表方法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19B27-7BA8-423B-B5D2-8863D808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LEAD与本项目框架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84579-6EB8-428A-840D-3A3C7351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A1D1C-0F69-4F1D-9A4E-AF1A39CD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后续工作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1F3A4-8E68-46D0-87F5-CEF4C9BD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公开数据提升与外部验证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1F790-40F4-43A6-8922-3FCDD9C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0666D-C908-4466-A464-5E4B89D7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3686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E25DF-B17A-439A-837C-8F8679E2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514BF-C23B-4DE1-9C0B-87F20ECB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6EE83-932F-4433-AECA-E9EF6C3A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06CCC-82BA-432C-A095-10376BF0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EEG疾病识别中的共同输入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9555A-C3A9-44F0-80EE-99A9C1E5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822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7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多篇研究反复使用静息态EO/EC、相似导联和固定切窗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60E04-A5B8-4F1C-8E91-27DF687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记录条件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5221C-C048-4C6B-A47D-0A9C892C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静息态 EO / 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AEC22-D348-45B7-9458-2E6729CB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导联设置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1C628-0A36-4EB9-9886-1E8F62B4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143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19 / 31 / 32 / 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922A1-8272-44AD-9253-5B3A1535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切窗长度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F80B1-BAC0-4CFF-8164-0FCEE3B1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43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2–12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D60D1-5CC1-4537-B92C-6E3DCA21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733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常用特征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0EA97-0185-46CC-B1BA-78B07C2A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43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PSD、连接、复杂度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CD900-BA99-49C4-A3B2-ADFFBCFD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BB909-63FC-4971-8BEF-CD85EE2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这些选择提供了可比较的输入条件，但不能回答哪些因素真正支撑分类。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4A811-ACAF-4DFA-A2EA-D79B3EA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0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研究问题：哪些频段、电极和特征在不同被试划分及公开数据集上保持不可替代贡献？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911B9-DCFC-43A3-8246-2D71997B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03056-BBC3-4B42-ABFD-128874CD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7074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1102C-7C78-4528-84F8-97437AAD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7D4C8-5CC0-40A3-AAF0-54B30095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D9CCB-A04D-40FD-A25A-BA5ADE5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C2D31-83D8-496E-AEA9-5685288B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公开数据集上的三项核心挑战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8934E-DB7A-4716-A544-5DC326F8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27A09-C279-4740-B8BB-5DB4EF81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7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数据异构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36BC5-E5DF-4022-B813-B6885F4B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通道、采样率、参考方式和记录状态不同，模型容易学习数据集来源。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BEA90-B213-4D37-947C-D4DB34A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219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CF090-19C6-4EB5-BE85-BC87FA6C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192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7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评价偏差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DEE3C-D503-40C7-8394-5A4DCDB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1526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片段随机划分会造成被试泄漏，片段准确率也不能代替患者级性能。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FC597-2251-4C16-83EF-4E4FF965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19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8A521-DFB0-4B93-9610-15F368D6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192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7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解释不稳定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9F45B-BA8E-4467-ABB1-CBD3ECE9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单次注意力或高准确率不足以证明某个频段、电极具有稳定贡献。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9AB70-D4D7-4A70-94AE-DA9CC18C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8BDB2-5C35-4ADD-823E-1783F4CB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8A72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2B8A72"/>
                </a:solidFill>
                <a:latin typeface="宋体"/>
                <a:ea typeface="宋体"/>
                <a:cs typeface="宋体"/>
              </a:rPr>
              <a:t>主评测场：公开数据集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854C0-D1D2-425E-B73F-F6AC6901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576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医院数据放在模型定型之后，仅用于外部验证，不参与模型选择和超参数调优。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23BE3-6A66-4657-9F6E-E45DA5E0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8A58D-9447-45D3-9170-DAE410F0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4985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B098D-B0A4-4CF1-AE54-A693F18C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60974-179C-4628-94D5-B3972B3C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0AF1E-B946-42C3-BDAD-5C8F7F4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AE997-0787-4EC7-B04E-6EB2C39D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AC563-CDD0-42E7-B25C-81FD56CD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CD596-4C63-41D8-A696-90096A1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4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1C193-DAC2-47BF-B215-4B2F36AD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公开数据上的问题与挑战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989CA-7629-41DE-A917-79866E2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621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664D6-6FC1-4B53-9488-31697F90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46DEE-4035-4C31-A99B-071C0FAD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研究现状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6400A-112C-4D59-BCFE-ABA39322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分类范式与证据缺口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02E89-167D-469C-B681-0E9C8A3A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04F1F-555D-445B-8A5E-AB9BFE46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代表方法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1F2E1-F6C9-4013-AE1F-2EDE837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LEAD与本项目框架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F770E-6B10-44E3-8EFB-455241C3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16A32-CB8D-4489-B233-CB8BD7A8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后续工作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67C38-810A-4C64-8BCA-73F2C6A6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公开数据提升与外部验证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51421-F44A-4512-844A-25A55B3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13B83-4F2B-47D9-A727-A636928E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9811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89676-3856-48CE-BCCE-F23905F0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DE1AF-6C31-4FB1-8D1A-494F57FD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CE1E7-485D-4C4E-9117-4661806C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3F235-94E1-40A4-8FCD-B64F516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现有EEG疾病识别方法与证据缺口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28625" y="1095375"/>
          <a:ext xmlns:a="http://schemas.openxmlformats.org/drawingml/2006/main" cx="8286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476500"/>
                <a:gridCol w="2333625"/>
                <a:gridCol w="20955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方法范式</a:t>
                      </a:r>
                    </a:p>
                  </a:txBody>
                  <a:tcPr marL="91440" marR="91440" marT="45720" marB="45720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主要表示</a:t>
                      </a:r>
                    </a:p>
                  </a:txBody>
                  <a:tcPr marL="91440" marR="91440" marT="45720" marB="45720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优势</a:t>
                      </a:r>
                    </a:p>
                  </a:txBody>
                  <a:tcPr marL="91440" marR="91440" marT="45720" marB="45720"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与本项目的缺口</a:t>
                      </a:r>
                    </a:p>
                  </a:txBody>
                  <a:tcPr marL="91440" marR="91440" marT="45720" marB="45720" anchor="ctr">
                    <a:solidFill>
                      <a:srgbClr val="24374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手工特征</a:t>
                      </a: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PSD、相对功率、连接、熵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含义明确，适合小样本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依赖特征选择，跨数据集稳定性有限</a:t>
                      </a:r>
                    </a:p>
                  </a:txBody>
                  <a:tcPr marL="76200" marR="76200" marT="47625" marB="476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监督深度模型</a:t>
                      </a: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CNN、EEGNet、Conformer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自动学习时空模式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常在单数据集内评估，解释结果不一致</a:t>
                      </a:r>
                    </a:p>
                  </a:txBody>
                  <a:tcPr marL="76200" marR="76200" marT="47625" marB="476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EEG预训练模型</a:t>
                      </a: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LEAD、LaBraM等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利用大规模无标签或多数据集表示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/>
                          <a:ea typeface="宋体"/>
                          <a:cs typeface="宋体"/>
                        </a:rPr>
                        <a:t>仍需验证疾病级迁移和关键因素的可重复性</a:t>
                      </a: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2D481-E57F-4AC7-B932-E6D12DE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现有方法关注“能否分类”；本项目进一步检验“哪些信息稳定贡献，并带来公开数据集上的提升”。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D5B53-F212-4FD0-AD0C-4E10ADF6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DDC8E-5ACF-44B4-940E-3027A567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8943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06C25-2636-4379-9258-2A83D0A7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E466B-FE1E-4B44-A76E-9E4FD6D5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AF2A1-E954-44CF-9205-0145C84F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313B7-DDB6-48B7-A8A4-86185C2B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70DFF-9B45-4D28-B134-F57794BF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BD051-A36D-42F5-9364-19892CC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4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C1336-A25C-41E4-887B-5343A6D3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公开数据上的问题与挑战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5D086-E2FD-4319-9A02-6D7A004A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E19C8-7A70-4E1A-BCA3-67AF1E63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研究现状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9ED60-3BB4-4DF2-964C-1817C121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分类范式与证据缺口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F065A-57CD-4B18-90A6-B2FFBE2A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432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7D278-EE15-4FED-8AD5-EE39E1CF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62082-A433-4ECC-B1BE-7CA18241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代表方法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45239-1054-4AC6-A903-555B95A3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C53D35"/>
                </a:solidFill>
                <a:latin typeface="宋体"/>
                <a:ea typeface="宋体"/>
                <a:cs typeface="宋体"/>
              </a:rPr>
              <a:t>LEAD与本项目框架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9497E-65D8-441B-8350-5FD16A6E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7E192-262C-46C6-AB21-D467FA69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后续工作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8E8F1-8250-444E-A900-FF6D9E02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公开数据提升与外部验证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16737-FDD7-4772-9494-38698C28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196EB-5406-4FCE-8A7D-9676C7CE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4654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EC57D-887B-4884-B0F4-6CC4445B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9B5DD-B38B-419E-848D-B15E9461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B1694-CBBC-4302-98DA-4FE41D4B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0662D-2F24-45C2-AE64-FE8C34D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框架动机：从异构输入到稳定贡献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885B3-B0D4-4E4C-AC9B-4BB2F73E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81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51231-A924-4CE7-92D9-758BDCB8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981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框架响应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5E963-D6C7-4982-8004-A8DBFBC5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问题一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24F78-5A62-45E4-93B8-DCE16FC0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287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公开EEG数据的通道与采样率不同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453BD-E3DD-4C1D-8D0E-F909F57D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7CDCE-F92A-42AC-92B2-A14C13D1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LEAD的通道位置与采样率嵌入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0D8B2-41B8-4D26-AE30-2F7BA5A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04FB4-AAA7-44E9-B725-1086916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问题二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2CD59-1024-46DB-AA6D-18693EB5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疾病标签属于被试，而非单个短片段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47A79-C95A-4340-A7CE-A90C403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77022-C2F0-48FC-B8D9-194F23AE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050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样本级与被试级联合学习和评价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70916-9EDB-42EE-A9D3-2D5278DB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40C28-5786-441E-82E8-F812D08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135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问题三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F4B65-F6AA-4D9E-A01C-89A13AAC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高性能仍不能说明关键频段与电极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051F3-5E85-4581-A32D-6ABABCD7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2D690-2A37-4338-9C78-0BBFA47E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13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0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加入配对消融、频段门控和稳定性统计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E034D-C3D2-42B8-AA47-60F4E2D0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设计原则：先建立可复现的LEAD基线，再用受控变量实验定位贡献，最后验证改进是否跨公开数据集成立。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D75BE-1C90-468C-865B-BA287F5D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2B6B8-243A-43AE-9E7D-5F094EDB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4208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8D854-6F78-464D-9335-244CC7FD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29027-8CF7-45FF-B237-0B047387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BF2E0-F2DF-4CC7-8D0E-6904C7E4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0518C-662A-47C1-A6CA-35E16BFC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LEAD主干与本项目扩展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6fe7dc8254aac"/>
          <a:stretch xmlns:a="http://schemas.openxmlformats.org/drawingml/2006/main"/>
        </p:blipFill>
        <p:spPr>
          <a:xfrm xmlns:a="http://schemas.openxmlformats.org/drawingml/2006/main">
            <a:off x="333375" y="1392432"/>
            <a:ext cx="5381625" cy="216813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EBA45-5F43-4287-88A1-A192E022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23950"/>
            <a:ext cx="38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41A1F-4E47-4228-92F1-B4B30B7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23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保留的LEAD能力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03693-C223-472E-A697-883A48C6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247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时间与空间联合编码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异构通道和采样率适配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被试级损失与预测聚合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B1802-EC44-42FA-A774-1357763C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575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新增实验层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3FF6B-513F-4546-A680-4B24826C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五频段输入与band embedding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频段、电极和特征配对消融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公开数据集上的跨折稳定性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40D90-CA1F-4856-855D-E2AA308E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4DC87-6C68-4FEC-A066-B6CA31C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6293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1B6C4-FF4C-4AF7-B4A6-59CE617F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6B128-6440-43B6-9C55-B6197A54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7EB67-B241-4E7B-B462-6DFB8E3C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E4781-350E-4DC5-A330-FA83A68E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公开数据集是模型提升的主评测场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28625" y="1095375"/>
          <a:ext xmlns:a="http://schemas.openxmlformats.org/drawingml/2006/main" cx="45243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fda71e5867410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B934F-5106-4630-A093-1E3617EF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066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75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当前进展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C5454-45B6-4B90-8997-5A201EA3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7637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APAVA完成5次复现，被试级AUROC 90.00%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RepOD完成5次MCCV，被试级AUROC 56.67%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RepOD结果提示跨疾病迁移仍需优化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2D897-539E-4FD5-9F54-87E21DFD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57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575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后续比较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BFC7B-3D82-4E7B-9E94-36B6B38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6707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原始LEAD、随机初始化与传统基线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单频段、删频段及MultiBand-LEAD</a:t>
            </a:r>
          </a:p>
          <a:p xmlns:a="http://schemas.openxmlformats.org/drawingml/2006/main"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275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同一被试折上比较AUROC与macro-F1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2405F-D5D8-4E5A-9744-F8CD6E7D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两组数据疾病和规模不同，图中结果只表示阶段进展，不作数据集间优劣比较。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3D4E4-1A5C-43F4-983D-74696AD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D9843-2736-4093-8464-BC0FFF06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0967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00B57-7BA7-48FD-A8D9-A0155EF2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4A798-75A2-44FA-A93A-F0799DA5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71054-00D0-49E4-8123-7D01A6ED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6DC3D-EE3F-44BE-88D4-7D72B782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8FDB4-12C3-4B4D-9F13-A5D3E924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3EF55-C6E3-4713-89A6-534BF7DC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4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2C6D8-25EA-4353-8B93-6697358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公开数据上的问题与挑战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2738A-FA3E-40DA-BC89-8237654E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A29E5-3A74-4C21-A13B-9897327A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研究现状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34842-F5B6-42CD-840C-AF0EA3A5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分类范式与证据缺口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AF913-A9D7-4AC9-B2F5-E004FC85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070AC-D39E-460F-9060-ABC88C6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代表方法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487AE-1548-4675-8F04-4AF4411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LEAD与本项目框架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15CAC-4233-406E-989C-A1AA4BC9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CE470-C2C9-4626-BE06-0A2AD80F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6E00A-8BBD-49D3-A562-1C77E75A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后续工作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C5BB0-1021-42AF-89A9-8925E479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公开数据提升与外部验证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E7EE4-F38F-4299-BD1E-A4897E0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35573-F230-4B0A-A8D2-1B0173FF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4467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89FE1E-3D27-469B-82A0-DAB8E44F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5B6EA-9849-4F0D-B0D4-A87AB5B2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85CA8-5C35-4B30-890C-D2AD2326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A4490-CDB1-4C71-8E7E-6957E8D5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后续实验路线与验证层级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5A8AF-38C1-48B6-85EF-1028FFAE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A454C-128A-496E-B4DF-CCE0BE6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878BB-6B2A-4ADA-B952-A3D0920D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公开数据基线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C896C-437A-411F-AB61-C5F81944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固定被试划分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复现LEAD与传统基线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B2CD4-1202-4CEC-8B97-1E6C6B41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954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7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D7D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60100-C379-462C-AD19-220B25C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8C17C-AA4C-4068-BD7D-B47E116D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96862-35BA-46BC-8F19-F3EA007E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因素筛选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6D367-C1A0-4735-B53E-D4F4216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单频段与删频段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电极和特征消融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68752-186C-4B19-BE78-A2ECDB19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954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7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D7D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D7FD0-A915-47CB-B402-A5D79734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24F8A-B9A6-4ED2-901C-C1983EF8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BCBE7-9AB5-48C3-8489-3FAEB79D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模型提升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1CA06-5000-4B46-92E2-8623615D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频段门控融合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MultiBand-LEAD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85E5D-7BC8-4C66-84C1-763D811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7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D7D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273F8-0150-41EB-BB32-CEE7FD58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6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96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59387-B269-4976-AF63-D27688C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A901D-9B68-4DB1-AF8D-1B0C033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公开集验证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5FEA1-5443-45B6-B872-F606F508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跨数据集与多种子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确认提升和排名稳定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E838A-3A0C-4D03-8D51-6F510FF5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954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8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7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D7D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FBD7B-F96F-4D05-91DC-6BBBF957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238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3D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3D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F1CDA-3043-49C5-BEA8-9E6ADE51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573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D3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BABBB-2DFA-4C48-BF77-B835DD8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医院外部验证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C5050D-E7F6-457B-AD2C-F2DC26DC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431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模型定型后一次验证</a:t>
            </a:r>
          </a:p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200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不参与调参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65A652-C5E3-490A-B8EC-CBE71988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8A6B7-AC7D-426B-A464-D58995C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53D3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C53D35"/>
                </a:solidFill>
                <a:latin typeface="宋体"/>
                <a:ea typeface="宋体"/>
                <a:cs typeface="宋体"/>
              </a:rPr>
              <a:t>关键验收：相同公开数据、相同被试折和相同评价指标下，MultiBand-LEAD稳定优于原始LEAD。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108D35-B0C6-4C1C-AAF4-AD470409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576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16F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56616F"/>
                </a:solidFill>
                <a:latin typeface="宋体"/>
                <a:ea typeface="宋体"/>
                <a:cs typeface="宋体"/>
              </a:rPr>
              <a:t>补充说明：资源允许时，仅在最终阶段用LaBraM复核关键频段与电极排名是否依赖LEAD架构。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B8C121-2924-4AB9-BB0B-781D273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14E47-A36A-4ACC-A178-9353ECA0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19442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80C60-8B30-45AB-BD6F-8A37286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3C818-1D3C-420E-93D9-C6920FA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FA502-0A49-43B0-A6B2-8ADDF8A8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9144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379BD-610E-4422-ACCC-3A94EBBD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690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210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22F2E-CBE4-4F9C-A83F-6583F1E8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38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研究主线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31BFE-41A7-45E6-99AF-7E579409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2192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在公开数据集上提升LEAD，并定位稳定贡献分类的频段、电极和特征。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ACEA4-7EF9-4206-878F-BB90214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验证边界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E4BB6-9571-4C2B-915E-6155E556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764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医院数据用于最终外部验证，不驱动框架设计和模型选择。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543F5-B901-44F5-87BE-BFB57FC0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6D2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2196D2"/>
                </a:solidFill>
                <a:latin typeface="宋体"/>
                <a:ea typeface="宋体"/>
                <a:cs typeface="宋体"/>
              </a:rPr>
              <a:t>核心模型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C15C9-8A3F-4365-BBCA-CC9FC9FB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337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1F2937"/>
                </a:solidFill>
                <a:latin typeface="宋体"/>
                <a:ea typeface="宋体"/>
                <a:cs typeface="宋体"/>
              </a:rPr>
              <a:t>LEAD承担全部主实验；LaBraM仅作为末期补充对照。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8317F-62A7-4F56-B911-8980FB49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26B97-0575-458B-85AA-28923756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D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F5DE1-9F18-4353-B558-521AC91A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17773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2026-09-13T03:17:27.5620000Z</dcterms:created>
  <dcterms:modified xsi:type="dcterms:W3CDTF">2026-09-13T03:17:27.5620000Z</dcterms:modified>
</coreProperties>
</file>